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3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0D13D8B1-C04F-4E9E-B500-49215364EE7D}"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6040" cy="3085920"/>
          </a:xfrm>
          <a:prstGeom prst="rect">
            <a:avLst/>
          </a:prstGeom>
          <a:ln w="0">
            <a:noFill/>
          </a:ln>
        </p:spPr>
      </p:sp>
      <p:sp>
        <p:nvSpPr>
          <p:cNvPr id="15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One-line framing — we took the interactive "interactive-hex-meshing" (CDM) research tool and made it run from the command line, on a server with no screen, and even with no GPU, without touching the research algorithms.</a:t>
            </a:r>
            <a:endParaRPr b="0" lang="en-US" sz="2000" spc="-1" strike="noStrike">
              <a:latin typeface="Arial"/>
            </a:endParaRPr>
          </a:p>
        </p:txBody>
      </p:sp>
      <p:sp>
        <p:nvSpPr>
          <p:cNvPr id="159"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A1CB2DF-3442-4915-BE3D-D8E44CEB1D2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Each stage hands an HDF5 file to the next. The "quality" of the output is a hex mesh with 0 inverted (flipped) cells — that's our hard pass gate. We'll come back to that.</a:t>
            </a:r>
            <a:endParaRPr b="0" lang="en-US" sz="2000" spc="-1" strike="noStrike">
              <a:latin typeface="Arial"/>
            </a:endParaRPr>
          </a:p>
        </p:txBody>
      </p:sp>
      <p:sp>
        <p:nvSpPr>
          <p:cNvPr id="162"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0D7D0C3-F062-4E95-A120-80629F638E9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Every item from the email is answered. The two "stretch" goals — true headless and CPU-only — were not just scoped but actually built and validated. The only open item is the Git push, held to a single batch at week's end (our choice).</a:t>
            </a:r>
            <a:endParaRPr b="0" lang="en-US" sz="2000" spc="-1" strike="noStrike">
              <a:latin typeface="Arial"/>
            </a:endParaRPr>
          </a:p>
        </p:txBody>
      </p:sp>
      <p:sp>
        <p:nvSpPr>
          <p:cNvPr id="165"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4A3468C-19D8-49A1-9E23-F1888F3F6FB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key simplification this cycle is the one-step Dockerfile.build: a reviewer needs only two commands and gets a ready-to-run image — no host-mounted source, no manual compile. It also fails loudly if either binary is missing (we hardened compile.sh, which previously masked a failed evocube build). On this Docker engine, 'docker images' reports the local unpacked footprint while 'docker image inspect .Size' reports the smaller content-store size; both are shown so the metric is unambiguous.</a:t>
            </a:r>
            <a:endParaRPr b="0" lang="en-US" sz="2000" spc="-1" strike="noStrike">
              <a:latin typeface="Arial"/>
            </a:endParaRPr>
          </a:p>
        </p:txBody>
      </p:sp>
      <p:sp>
        <p:nvSpPr>
          <p:cNvPr id="168"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11BAF0F-73B1-44B5-B1C2-6A7E908911C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"everything" image. Bigger, but self-contained — you can recompile inside it. Required for true on-screen GUI rendering on the GPU.</a:t>
            </a:r>
            <a:endParaRPr b="0" lang="en-US" sz="2000" spc="-1" strike="noStrike">
              <a:latin typeface="Arial"/>
            </a:endParaRPr>
          </a:p>
        </p:txBody>
      </p:sp>
      <p:sp>
        <p:nvSpPr>
          <p:cNvPr id="171"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4097311-951A-44DD-BE02-19F1CE0A2AC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image to actually deploy/run. The slim base omits the full NVIDIA GL stack, so the view device runs on software Vulkan (lavapipe) while the real math stays on the GPU. Perfectly fine for headless and CPU use; for an on-screen GUI use the devel image.</a:t>
            </a:r>
            <a:endParaRPr b="0" lang="en-US" sz="2000" spc="-1" strike="noStrike">
              <a:latin typeface="Arial"/>
            </a:endParaRPr>
          </a:p>
        </p:txBody>
      </p:sp>
      <p:sp>
        <p:nvSpPr>
          <p:cNvPr id="174"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5B3370E-70C2-4F17-AFBB-4EE6F58A7AB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Example commands:</a:t>
            </a:r>
            <a:endParaRPr b="0" lang="en-US" sz="2000" spc="-1" strike="noStrike">
              <a:latin typeface="Arial"/>
            </a:endParaRPr>
          </a:p>
          <a:p>
            <a:r>
              <a:rPr b="0" lang="en-US" sz="2000" spc="-1" strike="noStrike">
                <a:latin typeface="Arial"/>
              </a:rPr>
              <a:t># slim · CPU + headless (no NVIDIA GPU passed)</a:t>
            </a:r>
            <a:endParaRPr b="0" lang="en-US" sz="2000" spc="-1" strike="noStrike">
              <a:latin typeface="Arial"/>
            </a:endParaRPr>
          </a:p>
          <a:p>
            <a:r>
              <a:rPr b="0" lang="en-US" sz="2000" spc="-1" strike="noStrike">
                <a:latin typeface="Arial"/>
              </a:rPr>
              <a:t>docker run --rm -e HEX_LOCAL=1 -v "$PWD/output:/space/output" hexmesh-cli:slim ./cli_run/run.sh deform INPUT.mesh --headless --device cpu</a:t>
            </a:r>
            <a:endParaRPr b="0" lang="en-US" sz="2000" spc="-1" strike="noStrike">
              <a:latin typeface="Arial"/>
            </a:endParaRPr>
          </a:p>
          <a:p>
            <a:endParaRPr b="0" lang="en-US" sz="2000" spc="-1" strike="noStrike">
              <a:latin typeface="Arial"/>
            </a:endParaRPr>
          </a:p>
          <a:p>
            <a:r>
              <a:rPr b="0" lang="en-US" sz="2000" spc="-1" strike="noStrike">
                <a:latin typeface="Arial"/>
              </a:rPr>
              <a:t># slim · GPU + headless</a:t>
            </a:r>
            <a:endParaRPr b="0" lang="en-US" sz="2000" spc="-1" strike="noStrike">
              <a:latin typeface="Arial"/>
            </a:endParaRPr>
          </a:p>
          <a:p>
            <a:r>
              <a:rPr b="0" lang="en-US" sz="2000" spc="-1" strike="noStrike">
                <a:latin typeface="Arial"/>
              </a:rPr>
              <a:t>docker run --rm --gpus all -e NVIDIA_DRIVER_CAPABILITIES=all -e HEX_LOCAL=1 -v "$PWD/output:/space/output" hexmesh-cli:slim ./cli_run/run.sh deform INPUT.mesh --headless --device cuda</a:t>
            </a:r>
            <a:endParaRPr b="0" lang="en-US" sz="2000" spc="-1" strike="noStrike">
              <a:latin typeface="Arial"/>
            </a:endParaRPr>
          </a:p>
          <a:p>
            <a:endParaRPr b="0" lang="en-US" sz="2000" spc="-1" strike="noStrike">
              <a:latin typeface="Arial"/>
            </a:endParaRPr>
          </a:p>
          <a:p>
            <a:r>
              <a:rPr b="0" lang="en-US" sz="2000" spc="-1" strike="noStrike">
                <a:latin typeface="Arial"/>
              </a:rPr>
              <a:t># latest · GPU + GUI with automatic exit</a:t>
            </a:r>
            <a:endParaRPr b="0" lang="en-US" sz="2000" spc="-1" strike="noStrike">
              <a:latin typeface="Arial"/>
            </a:endParaRPr>
          </a:p>
          <a:p>
            <a:r>
              <a:rPr b="0" lang="en-US" sz="2000" spc="-1" strike="noStrike">
                <a:latin typeface="Arial"/>
              </a:rPr>
              <a:t>docker run --rm --gpus all -e DISPLAY="$DISPLAY" -e NVIDIA_DRIVER_CAPABILITIES=all -e HEX_LOCAL=1 -v /tmp/.X11-unix:/tmp/.X11-unix:rw -v "$PWD/output:/space/output" hexmesh-cli:latest ./cli_run/run.sh deform INPUT.mesh --exit-after --device cuda</a:t>
            </a:r>
            <a:endParaRPr b="0" lang="en-US" sz="2000" spc="-1" strike="noStrike">
              <a:latin typeface="Arial"/>
            </a:endParaRPr>
          </a:p>
          <a:p>
            <a:endParaRPr b="0" lang="en-US" sz="2000" spc="-1" strike="noStrike">
              <a:latin typeface="Arial"/>
            </a:endParaRPr>
          </a:p>
          <a:p>
            <a:pPr marL="216000" indent="-216000">
              <a:lnSpc>
                <a:spcPct val="100000"/>
              </a:lnSpc>
              <a:buNone/>
            </a:pPr>
            <a:r>
              <a:rPr b="0" lang="en-US" sz="2000" spc="-1" strike="noStrike">
                <a:latin typeface="Arial"/>
              </a:rPr>
              <a:t>In short: full image for GUI/building; slim image for CPU or GPU headless runs.</a:t>
            </a:r>
            <a:endParaRPr b="0" lang="en-US" sz="2000" spc="-1" strike="noStrike">
              <a:latin typeface="Arial"/>
            </a:endParaRPr>
          </a:p>
        </p:txBody>
      </p:sp>
      <p:sp>
        <p:nvSpPr>
          <p:cNvPr id="177"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2DCA423-6051-4EA0-A242-23F6A89D0E5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6040" cy="3085920"/>
          </a:xfrm>
          <a:prstGeom prst="rect">
            <a:avLst/>
          </a:prstGeom>
          <a:ln w="0">
            <a:noFill/>
          </a:ln>
        </p:spPr>
      </p:sp>
      <p:sp>
        <p:nvSpPr>
          <p:cNvPr id="17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People often ask "which binary do I run?" — it's hex, always via cli_run/run.sh. evocube is only for turning raw .obj surfaces into polycube inputs; the tutorial meshes already ship ready. The bare binary runs only in a matching environment (CUDA 12.4 + driver &gt;=550 + LibTorch 2.6.0+cu124 + Vulkan 1.3.268.0) — that's exactly why we prefer shipping the Docker image.</a:t>
            </a:r>
            <a:endParaRPr b="0" lang="en-US" sz="2000" spc="-1" strike="noStrike">
              <a:latin typeface="Arial"/>
            </a:endParaRPr>
          </a:p>
        </p:txBody>
      </p:sp>
      <p:sp>
        <p:nvSpPr>
          <p:cNvPr id="180"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FDBEE2B-3BF4-4CEE-B1AF-D42E5B413E1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big libraries are not in Git — setup.sh downloads them. The driver is a host prerequisite we never ship (it's tied to the machine's kernel; Docker injects the host driver at run time). We install the CUDA toolkit for building, never the driver.</a:t>
            </a:r>
            <a:endParaRPr b="0" lang="en-US" sz="2000" spc="-1" strike="noStrike">
              <a:latin typeface="Arial"/>
            </a:endParaRPr>
          </a:p>
        </p:txBody>
      </p:sp>
      <p:sp>
        <p:nvSpPr>
          <p:cNvPr id="183"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5BB3486-C4D7-43F1-AC0D-1F5E46C4C55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single answer to "does it still work after I changed the code?" Rebuild → run smoke → look for PASS. Hex counts/quality vary by model and are written to result_metrics.yaml; the gate is 0 inverted, not a specific count.</a:t>
            </a:r>
            <a:endParaRPr b="0" lang="en-US" sz="2000" spc="-1" strike="noStrike">
              <a:latin typeface="Arial"/>
            </a:endParaRPr>
          </a:p>
        </p:txBody>
      </p:sp>
      <p:sp>
        <p:nvSpPr>
          <p:cNvPr id="186"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6405302-697F-4B93-88C4-933135DF7E6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slide that says "we didn't just build features, we proved they converge to the same answer." The fact that GPU, headless, slim, bare-binary, and pure-CPU all land on exactly 18,526 hexes / 0 inverted is the strongest evidence the wrappers are faithful to the original algorithm.</a:t>
            </a:r>
            <a:endParaRPr b="0" lang="en-US" sz="2000" spc="-1" strike="noStrike">
              <a:latin typeface="Arial"/>
            </a:endParaRPr>
          </a:p>
        </p:txBody>
      </p:sp>
      <p:sp>
        <p:nvSpPr>
          <p:cNvPr id="189"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5293F16-B38A-4425-A652-4085D57BBAE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We polled nvidia-smi every 100 ms per stage. Three stages sit at 55–72% (CUDA-active); discretize barely moves at 13% — runtime confirmation that it does no CUDA compute. That measurement is what made the CPU-only plan concrete instead of guesswork.</a:t>
            </a:r>
            <a:endParaRPr b="0" lang="en-US" sz="2000" spc="-1" strike="noStrike">
              <a:latin typeface="Arial"/>
            </a:endParaRPr>
          </a:p>
        </p:txBody>
      </p:sp>
      <p:sp>
        <p:nvSpPr>
          <p:cNvPr id="192"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1CB04A5-CC04-4AFC-8F80-094D98E3C32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satisfied the email's "auto-close the GUI after the task" ask. It works, but a display (or xvfb) is still required — which is why we went further to true headless.</a:t>
            </a:r>
            <a:endParaRPr b="0" lang="en-US" sz="2000" spc="-1" strike="noStrike">
              <a:latin typeface="Arial"/>
            </a:endParaRPr>
          </a:p>
        </p:txBody>
      </p:sp>
      <p:sp>
        <p:nvSpPr>
          <p:cNvPr id="195"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879DB12-5A64-4AD9-8917-93F343D6F06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win here is that no controller or view code references the swapchain or GUI — they only touch the Vulkan device, which still exists. So skipping the window is a guard at startup, not a rewrite. The GUI-only touchpoints (screenshot, pipeline toggle) are reachable only from mouse/UI events the script path never enters.</a:t>
            </a:r>
            <a:endParaRPr b="0" lang="en-US" sz="2000" spc="-1" strike="noStrike">
              <a:latin typeface="Arial"/>
            </a:endParaRPr>
          </a:p>
        </p:txBody>
      </p:sp>
      <p:sp>
        <p:nvSpPr>
          <p:cNvPr id="198"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EF6255A-351F-4F21-826F-9B467A126D6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"Definition of done" for headless was never "it launches" — it was "it produces the same 0-inverted mesh with no window." That gate passed. The legacy xvfb stopgap still works too, but its X-server teardown can hang after a successful run, so we recommend --headless.</a:t>
            </a:r>
            <a:endParaRPr b="0" lang="en-US" sz="2000" spc="-1" strike="noStrike">
              <a:latin typeface="Arial"/>
            </a:endParaRPr>
          </a:p>
        </p:txBody>
      </p:sp>
      <p:sp>
        <p:nvSpPr>
          <p:cNvPr id="201"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88DDD5C-2F3B-4AFF-A0C6-CC9379D1B39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insight from the dependency map split the problem cleanly: removing the GPU is really about CUDA, not Vulkan. Stage 2 was already CPU-only; Stage 0 needed only the mechanical device knob; Stages 1 &amp; 3 needed the two kernel ports. We did all of it.</a:t>
            </a:r>
            <a:endParaRPr b="0" lang="en-US" sz="2000" spc="-1" strike="noStrike">
              <a:latin typeface="Arial"/>
            </a:endParaRPr>
          </a:p>
        </p:txBody>
      </p:sp>
      <p:sp>
        <p:nvSpPr>
          <p:cNvPr id="204"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6D89C1C-D3F7-44BD-BFDF-8190B284AED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6040" cy="3085920"/>
          </a:xfrm>
          <a:prstGeom prst="rect">
            <a:avLst/>
          </a:prstGeom>
          <a:ln w="0">
            <a:noFill/>
          </a:ln>
        </p:spPr>
      </p:sp>
      <p:sp>
        <p:nvSpPr>
          <p:cNvPr id="20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 full spot.mesh chain is ~6 min on CPU vs ~12 s on GPU. The honest caveat is performance, not correctness. An easy future win: at::parallel_for over query points would cut that substantially — deferred, correctness first.</a:t>
            </a:r>
            <a:endParaRPr b="0" lang="en-US" sz="2000" spc="-1" strike="noStrike">
              <a:latin typeface="Arial"/>
            </a:endParaRPr>
          </a:p>
        </p:txBody>
      </p:sp>
      <p:sp>
        <p:nvSpPr>
          <p:cNvPr id="207"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700AA88-08DE-450B-85CD-5E73F803498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Build is GPU-free. Caveats documented: GPU arch is pinned to sm_75 (Turing) — edit for your card; needs a writable checkout (libigl writes into its tree); a full run still needs a driver. The in-container-built binary also runs natively on this host's 4090, headless, exit 0.</a:t>
            </a:r>
            <a:endParaRPr b="0" lang="en-US" sz="2000" spc="-1" strike="noStrike">
              <a:latin typeface="Arial"/>
            </a:endParaRPr>
          </a:p>
        </p:txBody>
      </p:sp>
      <p:sp>
        <p:nvSpPr>
          <p:cNvPr id="210"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8AE8329-0D60-4A23-BE81-025EDEE075D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6040" cy="3085920"/>
          </a:xfrm>
          <a:prstGeom prst="rect">
            <a:avLst/>
          </a:prstGeom>
          <a:ln w="0">
            <a:noFill/>
          </a:ln>
        </p:spPr>
      </p:sp>
      <p:sp>
        <p:nvSpPr>
          <p:cNvPr id="21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Only 4 lines were ever deleted (a visibility move + a no-op revert). The one behavioral fix — writing the Stage-1 optimized polycube back after the optimizer thread joins — just makes headless match what the GUI already did each frame. This keeps future upstream merges low-risk and gives you a clean audit trail.</a:t>
            </a:r>
            <a:endParaRPr b="0" lang="en-US" sz="2000" spc="-1" strike="noStrike">
              <a:latin typeface="Arial"/>
            </a:endParaRPr>
          </a:p>
        </p:txBody>
      </p:sp>
      <p:sp>
        <p:nvSpPr>
          <p:cNvPr id="213"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E8E6053-DBB7-4C21-B923-62F6C9CE6EF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040" cy="3085920"/>
          </a:xfrm>
          <a:prstGeom prst="rect">
            <a:avLst/>
          </a:prstGeom>
          <a:ln w="0">
            <a:noFill/>
          </a:ln>
        </p:spPr>
      </p:sp>
      <p:sp>
        <p:nvSpPr>
          <p:cNvPr id="21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"Does it need NVIDIA?" was conflating two things. Separating them is what made both headless and CPU-only tractable and let us answer the question stage-by-stage instead of all-or-nothing.</a:t>
            </a:r>
            <a:endParaRPr b="0" lang="en-US" sz="2000" spc="-1" strike="noStrike">
              <a:latin typeface="Arial"/>
            </a:endParaRPr>
          </a:p>
        </p:txBody>
      </p:sp>
      <p:sp>
        <p:nvSpPr>
          <p:cNvPr id="216"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EDE61D7-0FE2-4F60-8586-E11A8EEFDD7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040" cy="3085920"/>
          </a:xfrm>
          <a:prstGeom prst="rect">
            <a:avLst/>
          </a:prstGeom>
          <a:ln w="0">
            <a:noFill/>
          </a:ln>
        </p:spPr>
      </p:sp>
      <p:sp>
        <p:nvSpPr>
          <p:cNvPr id="21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Nothing here is a surprise or a blocker — these are deliberate trade-offs and clearly costed follow-ons, not unknowns.</a:t>
            </a:r>
            <a:endParaRPr b="0" lang="en-US" sz="2000" spc="-1" strike="noStrike">
              <a:latin typeface="Arial"/>
            </a:endParaRPr>
          </a:p>
        </p:txBody>
      </p:sp>
      <p:sp>
        <p:nvSpPr>
          <p:cNvPr id="219"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4E8D3FB-B17E-47CA-8D69-D3F8DB48EED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6040" cy="3085920"/>
          </a:xfrm>
          <a:prstGeom prst="rect">
            <a:avLst/>
          </a:prstGeom>
          <a:ln w="0">
            <a:noFill/>
          </a:ln>
        </p:spPr>
      </p:sp>
      <p:sp>
        <p:nvSpPr>
          <p:cNvPr id="22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Close on the "no open questions" promise — the report set is report-grade and cross-linked, so anything on these slides can be traced to a document.</a:t>
            </a:r>
            <a:endParaRPr b="0" lang="en-US" sz="2000" spc="-1" strike="noStrike">
              <a:latin typeface="Arial"/>
            </a:endParaRPr>
          </a:p>
        </p:txBody>
      </p:sp>
      <p:sp>
        <p:nvSpPr>
          <p:cNvPr id="222"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78C6A4C-3FDA-405E-AA9F-5D2F7F45147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040" cy="3085920"/>
          </a:xfrm>
          <a:prstGeom prst="rect">
            <a:avLst/>
          </a:prstGeom>
          <a:ln w="0">
            <a:noFill/>
          </a:ln>
        </p:spPr>
      </p:sp>
      <p:sp>
        <p:nvSpPr>
          <p:cNvPr id="22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225"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3559F53-516F-4D15-971D-025272A8AAB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228"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FE585BC-349F-49A5-8CC0-132F73DABA2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Text 0"/>
          <p:cNvSpPr/>
          <p:nvPr/>
        </p:nvSpPr>
        <p:spPr>
          <a:xfrm>
            <a:off x="603360" y="1783080"/>
            <a:ext cx="10972440" cy="319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300" spc="199" strike="noStrike">
                <a:solidFill>
                  <a:srgbClr val="000000"/>
                </a:solidFill>
                <a:latin typeface="Arial"/>
                <a:ea typeface="Arial"/>
              </a:rPr>
              <a:t>PROGRESS UPDATE</a:t>
            </a:r>
            <a:endParaRPr b="0" lang="en-US" sz="1300" spc="-1" strike="noStrike">
              <a:latin typeface="Arial"/>
            </a:endParaRPr>
          </a:p>
        </p:txBody>
      </p:sp>
      <p:sp>
        <p:nvSpPr>
          <p:cNvPr id="45" name="Text 1"/>
          <p:cNvSpPr/>
          <p:nvPr/>
        </p:nvSpPr>
        <p:spPr>
          <a:xfrm>
            <a:off x="603360" y="2286000"/>
            <a:ext cx="10972440" cy="1279800"/>
          </a:xfrm>
          <a:prstGeom prst="rect">
            <a:avLst/>
          </a:prstGeom>
          <a:noFill/>
          <a:ln w="0">
            <a:noFill/>
          </a:ln>
        </p:spPr>
        <p:style>
          <a:lnRef idx="0"/>
          <a:fillRef idx="0"/>
          <a:effectRef idx="0"/>
          <a:fontRef idx="minor"/>
        </p:style>
        <p:txBody>
          <a:bodyPr lIns="0" rIns="0" tIns="0" bIns="0" anchor="t">
            <a:noAutofit/>
          </a:bodyPr>
          <a:p>
            <a:pPr algn="ctr">
              <a:lnSpc>
                <a:spcPct val="100000"/>
              </a:lnSpc>
              <a:buNone/>
              <a:tabLst>
                <a:tab algn="l" pos="0"/>
              </a:tabLst>
            </a:pPr>
            <a:r>
              <a:rPr b="1" lang="en-US" sz="4000" spc="-1" strike="noStrike">
                <a:solidFill>
                  <a:srgbClr val="000000"/>
                </a:solidFill>
                <a:latin typeface="Arial"/>
                <a:ea typeface="Arial"/>
              </a:rPr>
              <a:t>Command-line CDM hex-meshing tool</a:t>
            </a:r>
            <a:endParaRPr b="0" lang="en-US" sz="4000" spc="-1" strike="noStrike">
              <a:latin typeface="Arial"/>
            </a:endParaRPr>
          </a:p>
        </p:txBody>
      </p:sp>
      <p:sp>
        <p:nvSpPr>
          <p:cNvPr id="46" name="Text 2"/>
          <p:cNvSpPr/>
          <p:nvPr/>
        </p:nvSpPr>
        <p:spPr>
          <a:xfrm>
            <a:off x="603360" y="3794760"/>
            <a:ext cx="10972440" cy="1645560"/>
          </a:xfrm>
          <a:prstGeom prst="rect">
            <a:avLst/>
          </a:prstGeom>
          <a:noFill/>
          <a:ln w="0">
            <a:noFill/>
          </a:ln>
        </p:spPr>
        <p:style>
          <a:lnRef idx="0"/>
          <a:fillRef idx="0"/>
          <a:effectRef idx="0"/>
          <a:fontRef idx="minor"/>
        </p:style>
        <p:txBody>
          <a:bodyPr lIns="0" rIns="0" tIns="0" bIns="0" anchor="t">
            <a:noAutofit/>
          </a:bodyPr>
          <a:p>
            <a:pPr algn="ctr">
              <a:lnSpc>
                <a:spcPct val="100000"/>
              </a:lnSpc>
              <a:spcAft>
                <a:spcPts val="1001"/>
              </a:spcAft>
              <a:buNone/>
              <a:tabLst>
                <a:tab algn="l" pos="0"/>
              </a:tabLst>
            </a:pPr>
            <a:r>
              <a:rPr b="0" lang="en-US" sz="1700" spc="-1" strike="noStrike">
                <a:solidFill>
                  <a:srgbClr val="000000"/>
                </a:solidFill>
                <a:latin typeface="Arial"/>
                <a:ea typeface="Arial"/>
              </a:rPr>
              <a:t>From GUI-only research code  →  a scriptable, headless, CPU-capable CLI</a:t>
            </a:r>
            <a:endParaRPr b="0" lang="en-US" sz="1700" spc="-1" strike="noStrike">
              <a:latin typeface="Arial"/>
            </a:endParaRPr>
          </a:p>
          <a:p>
            <a:pPr algn="ctr">
              <a:lnSpc>
                <a:spcPct val="100000"/>
              </a:lnSpc>
              <a:spcAft>
                <a:spcPts val="1001"/>
              </a:spcAft>
              <a:buNone/>
              <a:tabLst>
                <a:tab algn="l" pos="0"/>
              </a:tabLst>
            </a:pPr>
            <a:r>
              <a:rPr b="0" lang="en-US" sz="1700" spc="-1" strike="noStrike">
                <a:solidFill>
                  <a:srgbClr val="000000"/>
                </a:solidFill>
                <a:latin typeface="Arial"/>
                <a:ea typeface="Arial"/>
              </a:rPr>
              <a:t>Build it (Docker or native), run any stage or the whole pipeline, verify with one command</a:t>
            </a:r>
            <a:endParaRPr b="0" lang="en-US" sz="1700" spc="-1" strike="noStrike">
              <a:latin typeface="Arial"/>
            </a:endParaRPr>
          </a:p>
          <a:p>
            <a:pPr algn="ctr">
              <a:lnSpc>
                <a:spcPct val="100000"/>
              </a:lnSpc>
              <a:spcAft>
                <a:spcPts val="1001"/>
              </a:spcAft>
              <a:buNone/>
              <a:tabLst>
                <a:tab algn="l" pos="0"/>
              </a:tabLst>
            </a:pPr>
            <a:r>
              <a:rPr b="0" lang="en-US" sz="1700" spc="-1" strike="noStrike">
                <a:solidFill>
                  <a:srgbClr val="000000"/>
                </a:solidFill>
                <a:latin typeface="Arial"/>
                <a:ea typeface="Arial"/>
              </a:rPr>
              <a:t>Branch cli-runner  ·  validated on an RTX 4090  ·  driver 580.159.03, CUDA 12.4</a:t>
            </a:r>
            <a:endParaRPr b="0" lang="en-US" sz="17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A — WHAT WE BUILT &amp; WHERE IT STANDS</a:t>
            </a:r>
            <a:endParaRPr b="0" lang="en-US" sz="1050" spc="-1" strike="noStrike">
              <a:latin typeface="Arial"/>
            </a:endParaRPr>
          </a:p>
        </p:txBody>
      </p:sp>
      <p:sp>
        <p:nvSpPr>
          <p:cNvPr id="48"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What the tool does?</a:t>
            </a:r>
            <a:endParaRPr b="0" lang="en-US" sz="2600" spc="-1" strike="noStrike">
              <a:latin typeface="Arial"/>
            </a:endParaRPr>
          </a:p>
        </p:txBody>
      </p:sp>
      <p:sp>
        <p:nvSpPr>
          <p:cNvPr id="49"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400"/>
              </a:spcAft>
              <a:buClr>
                <a:srgbClr val="000000"/>
              </a:buClr>
              <a:buFont typeface="Symbol" charset="2"/>
              <a:buChar char=""/>
            </a:pPr>
            <a:r>
              <a:rPr b="0" lang="en-US" sz="1700" spc="-1" strike="noStrike">
                <a:solidFill>
                  <a:srgbClr val="000000"/>
                </a:solidFill>
                <a:latin typeface="Arial"/>
                <a:ea typeface="Arial"/>
              </a:rPr>
              <a:t>Turns a 3D tetrahedral mesh into a clean </a:t>
            </a:r>
            <a:r>
              <a:rPr b="1" lang="en-US" sz="1700" spc="-1" strike="noStrike">
                <a:solidFill>
                  <a:srgbClr val="000000"/>
                </a:solidFill>
                <a:latin typeface="Arial"/>
                <a:ea typeface="Arial"/>
              </a:rPr>
              <a:t>hexahedral mesh</a:t>
            </a:r>
            <a:endParaRPr b="0" lang="en-US" sz="1700" spc="-1" strike="noStrike">
              <a:latin typeface="Arial"/>
            </a:endParaRPr>
          </a:p>
          <a:p>
            <a:pPr marL="228600" indent="-228600">
              <a:lnSpc>
                <a:spcPct val="100000"/>
              </a:lnSpc>
              <a:spcAft>
                <a:spcPts val="1400"/>
              </a:spcAft>
              <a:buClr>
                <a:srgbClr val="000000"/>
              </a:buClr>
              <a:buFont typeface="Symbol" charset="2"/>
              <a:buChar char=""/>
            </a:pPr>
            <a:r>
              <a:rPr b="0" lang="en-US" sz="1700" spc="-1" strike="noStrike">
                <a:solidFill>
                  <a:srgbClr val="000000"/>
                </a:solidFill>
                <a:latin typeface="Arial"/>
                <a:ea typeface="Arial"/>
              </a:rPr>
              <a:t>Four pipeline stages, one CLI subcommand each:  </a:t>
            </a:r>
            <a:r>
              <a:rPr b="0" lang="en-US" sz="1700" spc="-1" strike="noStrike">
                <a:solidFill>
                  <a:srgbClr val="000000"/>
                </a:solidFill>
                <a:latin typeface="Courier New"/>
                <a:ea typeface="Courier New"/>
              </a:rPr>
              <a:t>deform → decompose → discretize → hexahedralize</a:t>
            </a:r>
            <a:endParaRPr b="0" lang="en-US" sz="1700" spc="-1" strike="noStrike">
              <a:latin typeface="Arial"/>
            </a:endParaRPr>
          </a:p>
          <a:p>
            <a:pPr marL="228600" indent="-228600">
              <a:lnSpc>
                <a:spcPct val="100000"/>
              </a:lnSpc>
              <a:spcAft>
                <a:spcPts val="1400"/>
              </a:spcAft>
              <a:buClr>
                <a:srgbClr val="000000"/>
              </a:buClr>
              <a:buFont typeface="Symbol" charset="2"/>
              <a:buChar char=""/>
            </a:pPr>
            <a:r>
              <a:rPr b="0" lang="en-US" sz="1700" spc="-1" strike="noStrike">
                <a:solidFill>
                  <a:srgbClr val="000000"/>
                </a:solidFill>
                <a:latin typeface="Arial"/>
                <a:ea typeface="Arial"/>
              </a:rPr>
              <a:t>File in → run-directory out; final stage emits </a:t>
            </a:r>
            <a:r>
              <a:rPr b="0" lang="en-US" sz="1700" spc="-1" strike="noStrike">
                <a:solidFill>
                  <a:srgbClr val="000000"/>
                </a:solidFill>
                <a:latin typeface="Courier New"/>
                <a:ea typeface="Courier New"/>
              </a:rPr>
              <a:t>result.mesh</a:t>
            </a:r>
            <a:r>
              <a:rPr b="0" lang="en-US" sz="1700" spc="-1" strike="noStrike">
                <a:solidFill>
                  <a:srgbClr val="000000"/>
                </a:solidFill>
                <a:latin typeface="Arial"/>
                <a:ea typeface="Arial"/>
              </a:rPr>
              <a:t> + </a:t>
            </a:r>
            <a:r>
              <a:rPr b="0" lang="en-US" sz="1700" spc="-1" strike="noStrike">
                <a:solidFill>
                  <a:srgbClr val="000000"/>
                </a:solidFill>
                <a:latin typeface="Courier New"/>
                <a:ea typeface="Courier New"/>
              </a:rPr>
              <a:t>result_metrics.yaml</a:t>
            </a:r>
            <a:endParaRPr b="0" lang="en-US" sz="1700" spc="-1" strike="noStrike">
              <a:latin typeface="Arial"/>
            </a:endParaRPr>
          </a:p>
          <a:p>
            <a:pPr marL="228600" indent="-228600">
              <a:lnSpc>
                <a:spcPct val="100000"/>
              </a:lnSpc>
              <a:spcAft>
                <a:spcPts val="1400"/>
              </a:spcAft>
              <a:buClr>
                <a:srgbClr val="000000"/>
              </a:buClr>
              <a:buFont typeface="Symbol" charset="2"/>
              <a:buChar char=""/>
            </a:pPr>
            <a:r>
              <a:rPr b="0" lang="en-US" sz="1700" spc="-1" strike="noStrike">
                <a:solidFill>
                  <a:srgbClr val="000000"/>
                </a:solidFill>
                <a:latin typeface="Arial"/>
                <a:ea typeface="Arial"/>
              </a:rPr>
              <a:t>We did </a:t>
            </a:r>
            <a:r>
              <a:rPr b="1" lang="en-US" sz="1700" spc="-1" strike="noStrike">
                <a:solidFill>
                  <a:srgbClr val="000000"/>
                </a:solidFill>
                <a:latin typeface="Arial"/>
                <a:ea typeface="Arial"/>
              </a:rPr>
              <a:t>not</a:t>
            </a:r>
            <a:r>
              <a:rPr b="0" lang="en-US" sz="1700" spc="-1" strike="noStrike">
                <a:solidFill>
                  <a:srgbClr val="000000"/>
                </a:solidFill>
                <a:latin typeface="Arial"/>
                <a:ea typeface="Arial"/>
              </a:rPr>
              <a:t> change the research math - only added thin wrappers + new helper files</a:t>
            </a:r>
            <a:endParaRPr b="0" lang="en-US" sz="1700" spc="-1" strike="noStrike">
              <a:latin typeface="Arial"/>
            </a:endParaRPr>
          </a:p>
        </p:txBody>
      </p:sp>
      <p:sp>
        <p:nvSpPr>
          <p:cNvPr id="50"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2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A — WHAT WE BUILT &amp; WHERE IT STANDS</a:t>
            </a:r>
            <a:endParaRPr b="0" lang="en-US" sz="1050" spc="-1" strike="noStrike">
              <a:latin typeface="Arial"/>
            </a:endParaRPr>
          </a:p>
        </p:txBody>
      </p:sp>
      <p:sp>
        <p:nvSpPr>
          <p:cNvPr id="52"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The asks → what's done (scoreboard)</a:t>
            </a:r>
            <a:endParaRPr b="0" lang="en-US" sz="2600" spc="-1" strike="noStrike">
              <a:latin typeface="Arial"/>
            </a:endParaRPr>
          </a:p>
        </p:txBody>
      </p:sp>
      <p:graphicFrame>
        <p:nvGraphicFramePr>
          <p:cNvPr id="53" name="Table 0"/>
          <p:cNvGraphicFramePr/>
          <p:nvPr/>
        </p:nvGraphicFramePr>
        <p:xfrm>
          <a:off x="548640" y="1554480"/>
          <a:ext cx="11091240" cy="0"/>
        </p:xfrm>
        <a:graphic>
          <a:graphicData uri="http://schemas.openxmlformats.org/drawingml/2006/table">
            <a:tbl>
              <a:tblPr/>
              <a:tblGrid>
                <a:gridCol w="914400"/>
                <a:gridCol w="8165520"/>
                <a:gridCol w="2011680"/>
              </a:tblGrid>
              <a:tr h="0">
                <a:tc>
                  <a:txBody>
                    <a:bodyPr lIns="63360" rIns="63360" tIns="37800" bIns="37800" anchor="ctr">
                      <a:noAutofit/>
                    </a:bodyPr>
                    <a:p>
                      <a:pPr algn="ctr">
                        <a:lnSpc>
                          <a:spcPct val="100000"/>
                        </a:lnSpc>
                        <a:buNone/>
                        <a:tabLst>
                          <a:tab algn="l" pos="0"/>
                        </a:tabLst>
                      </a:pPr>
                      <a:r>
                        <a:rPr b="1" lang="en-US" sz="1300" spc="-1" strike="noStrike">
                          <a:solidFill>
                            <a:srgbClr val="000000"/>
                          </a:solidFill>
                          <a:latin typeface="Arial"/>
                          <a:ea typeface="Arial"/>
                        </a:rPr>
                        <a: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Request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300" spc="-1" strike="noStrike">
                          <a:solidFill>
                            <a:srgbClr val="000000"/>
                          </a:solidFill>
                          <a:latin typeface="Arial"/>
                          <a:ea typeface="Arial"/>
                        </a:rPr>
                        <a:t>Status</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1–3</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From-scratch build guide: Docker and native, + one-step Dockerfile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4–5</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Documented for the report + ship the compiled binary</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6–7</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Simplest usage + I/O behaviour + test cases</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8–9</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Track original-source changes + keep under Git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10</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Run without GUI / auto-close GUI (--exit-after)</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11</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True headless — no window at all (--headless)</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12</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Which steps need NVIDIA / Vulkan / GPU</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13</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CPU-only feasibility per stage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Done — implemented</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54" name="Text 2"/>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3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B — DOCKER IMAGES &amp; THE BINARIES</a:t>
            </a:r>
            <a:endParaRPr b="0" lang="en-US" sz="1050" spc="-1" strike="noStrike">
              <a:latin typeface="Arial"/>
            </a:endParaRPr>
          </a:p>
        </p:txBody>
      </p:sp>
      <p:sp>
        <p:nvSpPr>
          <p:cNvPr id="56"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Three Docker artifacts (one builder, two shippable images)</a:t>
            </a:r>
            <a:endParaRPr b="0" lang="en-US" sz="2600" spc="-1" strike="noStrike">
              <a:latin typeface="Arial"/>
            </a:endParaRPr>
          </a:p>
        </p:txBody>
      </p:sp>
      <p:sp>
        <p:nvSpPr>
          <p:cNvPr id="57" name="Text 2"/>
          <p:cNvSpPr/>
          <p:nvPr/>
        </p:nvSpPr>
        <p:spPr>
          <a:xfrm>
            <a:off x="548640" y="150876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901"/>
              </a:spcAft>
              <a:buClr>
                <a:srgbClr val="000000"/>
              </a:buClr>
              <a:buFont typeface="Symbol" charset="2"/>
              <a:buChar char=""/>
            </a:pPr>
            <a:r>
              <a:rPr b="0" lang="en-US" sz="1500" spc="-1" strike="noStrike">
                <a:solidFill>
                  <a:srgbClr val="000000"/>
                </a:solidFill>
                <a:latin typeface="Courier New"/>
                <a:ea typeface="Courier New"/>
              </a:rPr>
              <a:t>Dockerfile</a:t>
            </a:r>
            <a:r>
              <a:rPr b="0" lang="en-US" sz="1500" spc="-1" strike="noStrike">
                <a:solidFill>
                  <a:srgbClr val="000000"/>
                </a:solidFill>
                <a:latin typeface="Arial"/>
                <a:ea typeface="Arial"/>
              </a:rPr>
              <a:t> (env-only) — installs dependencies only; you bind-mount source + run </a:t>
            </a:r>
            <a:r>
              <a:rPr b="0" lang="en-US" sz="1500" spc="-1" strike="noStrike">
                <a:solidFill>
                  <a:srgbClr val="000000"/>
                </a:solidFill>
                <a:latin typeface="Courier New"/>
                <a:ea typeface="Courier New"/>
              </a:rPr>
              <a:t>compile.sh</a:t>
            </a:r>
            <a:r>
              <a:rPr b="0" lang="en-US" sz="1500" spc="-1" strike="noStrike">
                <a:solidFill>
                  <a:srgbClr val="000000"/>
                </a:solidFill>
                <a:latin typeface="Arial"/>
                <a:ea typeface="Arial"/>
              </a:rPr>
              <a:t>. The original/dev workflow.</a:t>
            </a:r>
            <a:endParaRPr b="0" lang="en-US" sz="1500" spc="-1" strike="noStrike">
              <a:latin typeface="Arial"/>
            </a:endParaRPr>
          </a:p>
          <a:p>
            <a:pPr marL="228600" indent="-228600">
              <a:lnSpc>
                <a:spcPct val="100000"/>
              </a:lnSpc>
              <a:spcAft>
                <a:spcPts val="901"/>
              </a:spcAft>
              <a:buClr>
                <a:srgbClr val="000000"/>
              </a:buClr>
              <a:buFont typeface="Symbol" charset="2"/>
              <a:buChar char=""/>
            </a:pPr>
            <a:r>
              <a:rPr b="0" lang="en-US" sz="1500" spc="-1" strike="noStrike">
                <a:solidFill>
                  <a:srgbClr val="000000"/>
                </a:solidFill>
                <a:latin typeface="Courier New"/>
                <a:ea typeface="Courier New"/>
              </a:rPr>
              <a:t>Dockerfile.build</a:t>
            </a:r>
            <a:r>
              <a:rPr b="0" lang="en-US" sz="1500" spc="-1" strike="noStrike">
                <a:solidFill>
                  <a:srgbClr val="000000"/>
                </a:solidFill>
                <a:latin typeface="Arial"/>
                <a:ea typeface="Arial"/>
              </a:rPr>
              <a:t> (self-contained, </a:t>
            </a:r>
            <a:r>
              <a:rPr b="1" lang="en-US" sz="1500" spc="-1" strike="noStrike">
                <a:solidFill>
                  <a:srgbClr val="000000"/>
                </a:solidFill>
                <a:latin typeface="Arial"/>
                <a:ea typeface="Arial"/>
              </a:rPr>
              <a:t>recommended</a:t>
            </a:r>
            <a:r>
              <a:rPr b="0" lang="en-US" sz="1500" spc="-1" strike="noStrike">
                <a:solidFill>
                  <a:srgbClr val="000000"/>
                </a:solidFill>
                <a:latin typeface="Arial"/>
                <a:ea typeface="Arial"/>
              </a:rPr>
              <a:t>) — COPYs the source and compiles inside the image. Multi-stage with two selectable targets → the two images we ship.</a:t>
            </a:r>
            <a:endParaRPr b="0" lang="en-US" sz="1500" spc="-1" strike="noStrike">
              <a:latin typeface="Arial"/>
            </a:endParaRPr>
          </a:p>
          <a:p>
            <a:pPr marL="228600" indent="-228600">
              <a:lnSpc>
                <a:spcPct val="100000"/>
              </a:lnSpc>
              <a:spcAft>
                <a:spcPts val="901"/>
              </a:spcAft>
              <a:buClr>
                <a:srgbClr val="000000"/>
              </a:buClr>
              <a:buFont typeface="Symbol" charset="2"/>
              <a:buChar char=""/>
            </a:pPr>
            <a:r>
              <a:rPr b="0" lang="en-US" sz="1500" spc="-1" strike="noStrike">
                <a:solidFill>
                  <a:srgbClr val="000000"/>
                </a:solidFill>
                <a:latin typeface="Arial"/>
                <a:ea typeface="Arial"/>
              </a:rPr>
              <a:t>Build is </a:t>
            </a:r>
            <a:r>
              <a:rPr b="1" lang="en-US" sz="1500" spc="-1" strike="noStrike">
                <a:solidFill>
                  <a:srgbClr val="000000"/>
                </a:solidFill>
                <a:latin typeface="Arial"/>
                <a:ea typeface="Arial"/>
              </a:rPr>
              <a:t>GPU-free</a:t>
            </a:r>
            <a:r>
              <a:rPr b="0" lang="en-US" sz="1500" spc="-1" strike="noStrike">
                <a:solidFill>
                  <a:srgbClr val="000000"/>
                </a:solidFill>
                <a:latin typeface="Arial"/>
                <a:ea typeface="Arial"/>
              </a:rPr>
              <a:t> (nvcc cross-compiles); a GPU is needed only to run.</a:t>
            </a:r>
            <a:endParaRPr b="0" lang="en-US" sz="1500" spc="-1" strike="noStrike">
              <a:latin typeface="Arial"/>
            </a:endParaRPr>
          </a:p>
        </p:txBody>
      </p:sp>
      <p:sp>
        <p:nvSpPr>
          <p:cNvPr id="58" name="Text 3"/>
          <p:cNvSpPr/>
          <p:nvPr/>
        </p:nvSpPr>
        <p:spPr>
          <a:xfrm>
            <a:off x="713160" y="3154680"/>
            <a:ext cx="10762200" cy="219420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100" spc="-1" strike="noStrike">
                <a:solidFill>
                  <a:srgbClr val="000000"/>
                </a:solidFill>
                <a:latin typeface="Courier New"/>
                <a:ea typeface="Courier New"/>
              </a:rPr>
              <a:t>docker build -f Dockerfile.build --target build   -t hexmesh-cli:latest .   # devel image</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docker build -f Dockerfile.build --target runtime -t hexmesh-cli:slim   .   # slim image</a:t>
            </a:r>
            <a:endParaRPr b="0" lang="en-US" sz="1100" spc="-1" strike="noStrike">
              <a:latin typeface="Arial"/>
            </a:endParaRPr>
          </a:p>
          <a:p>
            <a:pPr>
              <a:lnSpc>
                <a:spcPct val="110000"/>
              </a:lnSpc>
              <a:buNone/>
              <a:tabLst>
                <a:tab algn="l" pos="0"/>
              </a:tabLst>
            </a:pP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 Verify sizes instead of copying historical numbers:</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docker images --format '{{.Repository}}:{{.Tag}}  {{.Size}}' \</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  </a:t>
            </a:r>
            <a:r>
              <a:rPr b="0" lang="en-US" sz="1100" spc="-1" strike="noStrike">
                <a:solidFill>
                  <a:srgbClr val="000000"/>
                </a:solidFill>
                <a:latin typeface="Courier New"/>
                <a:ea typeface="Courier New"/>
              </a:rPr>
              <a:t>| grep -E '^(hexmesh-cli|docker-hexmesh):'</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docker image inspect hexmesh-cli:latest hexmesh-cli:slim docker-hexmesh:latest \</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  </a:t>
            </a:r>
            <a:r>
              <a:rPr b="0" lang="en-US" sz="1100" spc="-1" strike="noStrike">
                <a:solidFill>
                  <a:srgbClr val="000000"/>
                </a:solidFill>
                <a:latin typeface="Courier New"/>
                <a:ea typeface="Courier New"/>
              </a:rPr>
              <a:t>--format '{{index .RepoTags 0}}  {{.Size}} bytes'</a:t>
            </a:r>
            <a:endParaRPr b="0" lang="en-US" sz="1100" spc="-1" strike="noStrike">
              <a:latin typeface="Arial"/>
            </a:endParaRPr>
          </a:p>
        </p:txBody>
      </p:sp>
      <p:sp>
        <p:nvSpPr>
          <p:cNvPr id="59"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4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B — DOCKER IMAGES &amp; THE BINARIES</a:t>
            </a:r>
            <a:endParaRPr b="0" lang="en-US" sz="1050" spc="-1" strike="noStrike">
              <a:latin typeface="Arial"/>
            </a:endParaRPr>
          </a:p>
        </p:txBody>
      </p:sp>
      <p:sp>
        <p:nvSpPr>
          <p:cNvPr id="61"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Image 1:  hexmesh-cli:latest  (devel / full)</a:t>
            </a:r>
            <a:endParaRPr b="0" lang="en-US" sz="2600" spc="-1" strike="noStrike">
              <a:latin typeface="Arial"/>
            </a:endParaRPr>
          </a:p>
        </p:txBody>
      </p:sp>
      <p:sp>
        <p:nvSpPr>
          <p:cNvPr id="62" name="Text 2"/>
          <p:cNvSpPr/>
          <p:nvPr/>
        </p:nvSpPr>
        <p:spPr>
          <a:xfrm>
            <a:off x="548640" y="160020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Base: </a:t>
            </a:r>
            <a:r>
              <a:rPr b="0" lang="en-US" sz="1600" spc="-1" strike="noStrike">
                <a:solidFill>
                  <a:srgbClr val="000000"/>
                </a:solidFill>
                <a:latin typeface="Courier New"/>
                <a:ea typeface="Courier New"/>
              </a:rPr>
              <a:t>nvcr.io/nvidia/cuda:12.4.1-cudnn-devel-ubuntu22.04</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Measured size: 28.0 GB local unpacked</a:t>
            </a:r>
            <a:r>
              <a:rPr b="0" lang="en-US" sz="1600" spc="-1" strike="noStrike">
                <a:solidFill>
                  <a:srgbClr val="000000"/>
                </a:solidFill>
                <a:latin typeface="Arial"/>
                <a:ea typeface="Arial"/>
              </a:rPr>
              <a:t> (26.1 GiB); docker image inspect: </a:t>
            </a:r>
            <a:r>
              <a:rPr b="1" lang="en-US" sz="1600" spc="-1" strike="noStrike">
                <a:solidFill>
                  <a:srgbClr val="000000"/>
                </a:solidFill>
                <a:latin typeface="Arial"/>
                <a:ea typeface="Arial"/>
              </a:rPr>
              <a:t>9,576,145,179 bytes</a:t>
            </a:r>
            <a:r>
              <a:rPr b="0" lang="en-US" sz="1600" spc="-1" strike="noStrike">
                <a:solidFill>
                  <a:srgbClr val="000000"/>
                </a:solidFill>
                <a:latin typeface="Arial"/>
                <a:ea typeface="Arial"/>
              </a:rPr>
              <a:t> (9.58 GB)</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Contains: </a:t>
            </a:r>
            <a:r>
              <a:rPr b="0" lang="en-US" sz="1600" spc="-1" strike="noStrike">
                <a:solidFill>
                  <a:srgbClr val="000000"/>
                </a:solidFill>
                <a:latin typeface="Arial"/>
                <a:ea typeface="Arial"/>
              </a:rPr>
              <a:t>compilers (nvcc, build-essential, cmake), full source tree, LibTorch + Vulkan SDK (headers + libs), the compiled hex + evocube binaries, cli_run/, and the tutorial meshes</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Use it for: </a:t>
            </a:r>
            <a:r>
              <a:rPr b="0" lang="en-US" sz="1600" spc="-1" strike="noStrike">
                <a:solidFill>
                  <a:srgbClr val="000000"/>
                </a:solidFill>
                <a:latin typeface="Arial"/>
                <a:ea typeface="Arial"/>
              </a:rPr>
              <a:t>the on-screen GUI (carries the full NVIDIA GL/Vulkan stack), rebuilding after a code change, anything needing the toolchain</a:t>
            </a:r>
            <a:endParaRPr b="0" lang="en-US" sz="1600" spc="-1" strike="noStrike">
              <a:latin typeface="Arial"/>
            </a:endParaRPr>
          </a:p>
        </p:txBody>
      </p:sp>
      <p:sp>
        <p:nvSpPr>
          <p:cNvPr id="63"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5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B — DOCKER IMAGES &amp; THE BINARIES</a:t>
            </a:r>
            <a:endParaRPr b="0" lang="en-US" sz="1050" spc="-1" strike="noStrike">
              <a:latin typeface="Arial"/>
            </a:endParaRPr>
          </a:p>
        </p:txBody>
      </p:sp>
      <p:sp>
        <p:nvSpPr>
          <p:cNvPr id="65"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Image 2:  hexmesh-cli:slim  (runtime / run-only)</a:t>
            </a:r>
            <a:endParaRPr b="0" lang="en-US" sz="2600" spc="-1" strike="noStrike">
              <a:latin typeface="Arial"/>
            </a:endParaRPr>
          </a:p>
        </p:txBody>
      </p:sp>
      <p:sp>
        <p:nvSpPr>
          <p:cNvPr id="66" name="Text 2"/>
          <p:cNvSpPr/>
          <p:nvPr/>
        </p:nvSpPr>
        <p:spPr>
          <a:xfrm>
            <a:off x="548640" y="160020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Base: </a:t>
            </a:r>
            <a:r>
              <a:rPr b="0" lang="en-US" sz="1450" spc="-1" strike="noStrike">
                <a:solidFill>
                  <a:srgbClr val="000000"/>
                </a:solidFill>
                <a:latin typeface="Courier New"/>
                <a:ea typeface="Courier New"/>
              </a:rPr>
              <a:t>nvcr.io/nvidia/cuda:12.4.1-cudnn-runtime-ubuntu22.04</a:t>
            </a:r>
            <a:endParaRPr b="0" lang="en-US" sz="1450" spc="-1" strike="noStrike">
              <a:latin typeface="Arial"/>
            </a:endParaRPr>
          </a:p>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Measured size: 15.9 GB local unpacked</a:t>
            </a:r>
            <a:r>
              <a:rPr b="0" lang="en-US" sz="1450" spc="-1" strike="noStrike">
                <a:solidFill>
                  <a:srgbClr val="000000"/>
                </a:solidFill>
                <a:latin typeface="Arial"/>
                <a:ea typeface="Arial"/>
              </a:rPr>
              <a:t> (14.8 GiB); docker image inspect: </a:t>
            </a:r>
            <a:r>
              <a:rPr b="1" lang="en-US" sz="1450" spc="-1" strike="noStrike">
                <a:solidFill>
                  <a:srgbClr val="000000"/>
                </a:solidFill>
                <a:latin typeface="Arial"/>
                <a:ea typeface="Arial"/>
              </a:rPr>
              <a:t>5,568,254,519 bytes</a:t>
            </a:r>
            <a:r>
              <a:rPr b="0" lang="en-US" sz="1450" spc="-1" strike="noStrike">
                <a:solidFill>
                  <a:srgbClr val="000000"/>
                </a:solidFill>
                <a:latin typeface="Arial"/>
                <a:ea typeface="Arial"/>
              </a:rPr>
              <a:t> (5.57 GB)</a:t>
            </a:r>
            <a:endParaRPr b="0" lang="en-US" sz="1450" spc="-1" strike="noStrike">
              <a:latin typeface="Arial"/>
            </a:endParaRPr>
          </a:p>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Reduction: 12.1 GB (~43% smaller)</a:t>
            </a:r>
            <a:r>
              <a:rPr b="0" lang="en-US" sz="1450" spc="-1" strike="noStrike">
                <a:solidFill>
                  <a:srgbClr val="000000"/>
                </a:solidFill>
                <a:latin typeface="Arial"/>
                <a:ea typeface="Arial"/>
              </a:rPr>
              <a:t> than the devel image by local unpacked footprint</a:t>
            </a:r>
            <a:endParaRPr b="0" lang="en-US" sz="1450" spc="-1" strike="noStrike">
              <a:latin typeface="Arial"/>
            </a:endParaRPr>
          </a:p>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Drops: </a:t>
            </a:r>
            <a:r>
              <a:rPr b="0" lang="en-US" sz="1450" spc="-1" strike="noStrike">
                <a:solidFill>
                  <a:srgbClr val="000000"/>
                </a:solidFill>
                <a:latin typeface="Arial"/>
                <a:ea typeface="Arial"/>
              </a:rPr>
              <a:t>compilers, source tree, CMake build trees, LibTorch headers/static libs</a:t>
            </a:r>
            <a:endParaRPr b="0" lang="en-US" sz="1450" spc="-1" strike="noStrike">
              <a:latin typeface="Arial"/>
            </a:endParaRPr>
          </a:p>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Keeps: </a:t>
            </a:r>
            <a:r>
              <a:rPr b="0" lang="en-US" sz="1450" spc="-1" strike="noStrike">
                <a:solidFill>
                  <a:srgbClr val="000000"/>
                </a:solidFill>
                <a:latin typeface="Arial"/>
                <a:ea typeface="Arial"/>
              </a:rPr>
              <a:t>the compiled binaries, runtime .so files, assets/shaders, cli_run/</a:t>
            </a:r>
            <a:endParaRPr b="0" lang="en-US" sz="1450" spc="-1" strike="noStrike">
              <a:latin typeface="Arial"/>
            </a:endParaRPr>
          </a:p>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Vulkan note: </a:t>
            </a:r>
            <a:r>
              <a:rPr b="0" lang="en-US" sz="1450" spc="-1" strike="noStrike">
                <a:solidFill>
                  <a:srgbClr val="000000"/>
                </a:solidFill>
                <a:latin typeface="Arial"/>
                <a:ea typeface="Arial"/>
              </a:rPr>
              <a:t>bundles lavapipe (Mesa CPU Vulkan ICD) for the off-screen view device; CUDA compute still runs on the NVIDIA GPU via --gpus all. Validated for headless/CLI, not on-screen GUI.</a:t>
            </a:r>
            <a:endParaRPr b="0" lang="en-US" sz="1450" spc="-1" strike="noStrike">
              <a:latin typeface="Arial"/>
            </a:endParaRPr>
          </a:p>
        </p:txBody>
      </p:sp>
      <p:sp>
        <p:nvSpPr>
          <p:cNvPr id="67"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6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B — DOCKER IMAGES &amp; THE BINARIES</a:t>
            </a:r>
            <a:endParaRPr b="0" lang="en-US" sz="1050" spc="-1" strike="noStrike">
              <a:latin typeface="Arial"/>
            </a:endParaRPr>
          </a:p>
        </p:txBody>
      </p:sp>
      <p:sp>
        <p:nvSpPr>
          <p:cNvPr id="69"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Which image for which mode (quick decision)</a:t>
            </a:r>
            <a:endParaRPr b="0" lang="en-US" sz="2600" spc="-1" strike="noStrike">
              <a:latin typeface="Arial"/>
            </a:endParaRPr>
          </a:p>
        </p:txBody>
      </p:sp>
      <p:graphicFrame>
        <p:nvGraphicFramePr>
          <p:cNvPr id="70" name="Table 0"/>
          <p:cNvGraphicFramePr/>
          <p:nvPr/>
        </p:nvGraphicFramePr>
        <p:xfrm>
          <a:off x="548640" y="1508760"/>
          <a:ext cx="11091240" cy="0"/>
        </p:xfrm>
        <a:graphic>
          <a:graphicData uri="http://schemas.openxmlformats.org/drawingml/2006/table">
            <a:tbl>
              <a:tblPr/>
              <a:tblGrid>
                <a:gridCol w="3776400"/>
                <a:gridCol w="3657600"/>
                <a:gridCol w="3657600"/>
              </a:tblGrid>
              <a:tr h="0">
                <a:tc>
                  <a:txBody>
                    <a:bodyPr lIns="63360" rIns="63360" tIns="37800" bIns="37800" anchor="ctr">
                      <a:noAutofit/>
                    </a:bodyPr>
                    <a:p>
                      <a:pPr>
                        <a:lnSpc>
                          <a:spcPct val="100000"/>
                        </a:lnSpc>
                        <a:buNone/>
                        <a:tabLst>
                          <a:tab algn="l" pos="0"/>
                        </a:tabLst>
                      </a:pPr>
                      <a:r>
                        <a:rPr b="1" lang="en-US" sz="1200" spc="-1" strike="noStrike">
                          <a:solidFill>
                            <a:srgbClr val="000000"/>
                          </a:solidFill>
                          <a:latin typeface="Arial"/>
                          <a:ea typeface="Arial"/>
                        </a:rPr>
                        <a:t>Mode</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200" spc="-1" strike="noStrike">
                          <a:solidFill>
                            <a:srgbClr val="000000"/>
                          </a:solidFill>
                          <a:latin typeface="Arial"/>
                          <a:ea typeface="Arial"/>
                        </a:rPr>
                        <a:t>latest (full)</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200" spc="-1" strike="noStrike">
                          <a:solidFill>
                            <a:srgbClr val="000000"/>
                          </a:solidFill>
                          <a:latin typeface="Arial"/>
                          <a:ea typeface="Arial"/>
                        </a:rPr>
                        <a:t>slim</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GPU + GUI</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 — tested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Not recommended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GPU + auto-close GUI (--exit-after)</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 — tested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Not recommended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GPU + headless</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 — tested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CPU compute + headless</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Works (needs a Vulkan ICD)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 — tested (lavapipe)</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CPU compute + GUI</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Works; GPU still needed for display</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Not recommended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Build / recompile source</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No</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00" spc="-1" strike="noStrike">
                          <a:solidFill>
                            <a:srgbClr val="000000"/>
                          </a:solidFill>
                          <a:latin typeface="Arial"/>
                          <a:ea typeface="Arial"/>
                        </a:rPr>
                        <a:t>Run without an NVIDIA GPU</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Not guaranteed</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200" spc="-1" strike="noStrike">
                          <a:solidFill>
                            <a:srgbClr val="000000"/>
                          </a:solidFill>
                          <a:latin typeface="Arial"/>
                          <a:ea typeface="Arial"/>
                        </a:rPr>
                        <a:t>Yes (CPU + headless)</a:t>
                      </a:r>
                      <a:endParaRPr b="0" lang="en-US" sz="12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71" name="Text 2"/>
          <p:cNvSpPr/>
          <p:nvPr/>
        </p:nvSpPr>
        <p:spPr>
          <a:xfrm>
            <a:off x="548640" y="5669280"/>
            <a:ext cx="1109124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350" spc="-1" strike="noStrike">
                <a:solidFill>
                  <a:srgbClr val="000000"/>
                </a:solidFill>
                <a:latin typeface="Arial"/>
                <a:ea typeface="Arial"/>
              </a:rPr>
              <a:t>Rule of thumb:  latest</a:t>
            </a:r>
            <a:r>
              <a:rPr b="0" lang="en-US" sz="1350" spc="-1" strike="noStrike">
                <a:solidFill>
                  <a:srgbClr val="000000"/>
                </a:solidFill>
                <a:latin typeface="Arial"/>
                <a:ea typeface="Arial"/>
              </a:rPr>
              <a:t> = GUI, development, debugging, compilation    ·    </a:t>
            </a:r>
            <a:r>
              <a:rPr b="1" lang="en-US" sz="1350" spc="-1" strike="noStrike">
                <a:solidFill>
                  <a:srgbClr val="000000"/>
                </a:solidFill>
                <a:latin typeface="Arial"/>
                <a:ea typeface="Arial"/>
              </a:rPr>
              <a:t>slim</a:t>
            </a:r>
            <a:r>
              <a:rPr b="0" lang="en-US" sz="1350" spc="-1" strike="noStrike">
                <a:solidFill>
                  <a:srgbClr val="000000"/>
                </a:solidFill>
                <a:latin typeface="Arial"/>
                <a:ea typeface="Arial"/>
              </a:rPr>
              <a:t> = headless production runs (CPU or GPU compute)</a:t>
            </a:r>
            <a:endParaRPr b="0" lang="en-US" sz="1350" spc="-1" strike="noStrike">
              <a:latin typeface="Arial"/>
            </a:endParaRPr>
          </a:p>
        </p:txBody>
      </p:sp>
      <p:sp>
        <p:nvSpPr>
          <p:cNvPr id="72"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7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B — DOCKER IMAGES &amp; THE BINARIES</a:t>
            </a:r>
            <a:endParaRPr b="0" lang="en-US" sz="1050" spc="-1" strike="noStrike">
              <a:latin typeface="Arial"/>
            </a:endParaRPr>
          </a:p>
        </p:txBody>
      </p:sp>
      <p:sp>
        <p:nvSpPr>
          <p:cNvPr id="74"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The binaries we ship (inside the images / in dist/)</a:t>
            </a:r>
            <a:endParaRPr b="0" lang="en-US" sz="2600" spc="-1" strike="noStrike">
              <a:latin typeface="Arial"/>
            </a:endParaRPr>
          </a:p>
        </p:txBody>
      </p:sp>
      <p:graphicFrame>
        <p:nvGraphicFramePr>
          <p:cNvPr id="75" name="Table 0"/>
          <p:cNvGraphicFramePr/>
          <p:nvPr/>
        </p:nvGraphicFramePr>
        <p:xfrm>
          <a:off x="548640" y="1508760"/>
          <a:ext cx="11091240" cy="0"/>
        </p:xfrm>
        <a:graphic>
          <a:graphicData uri="http://schemas.openxmlformats.org/drawingml/2006/table">
            <a:tbl>
              <a:tblPr/>
              <a:tblGrid>
                <a:gridCol w="2743200"/>
                <a:gridCol w="960120"/>
                <a:gridCol w="5285160"/>
                <a:gridCol w="2103120"/>
              </a:tblGrid>
              <a:tr h="0">
                <a:tc>
                  <a:txBody>
                    <a:bodyPr lIns="63360" rIns="63360" tIns="37800" bIns="37800" anchor="ctr">
                      <a:noAutofit/>
                    </a:bodyPr>
                    <a:p>
                      <a:pPr>
                        <a:lnSpc>
                          <a:spcPct val="100000"/>
                        </a:lnSpc>
                        <a:buNone/>
                        <a:tabLst>
                          <a:tab algn="l" pos="0"/>
                        </a:tabLst>
                      </a:pPr>
                      <a:r>
                        <a:rPr b="1" lang="en-US" sz="1150" spc="-1" strike="noStrike">
                          <a:solidFill>
                            <a:srgbClr val="000000"/>
                          </a:solidFill>
                          <a:latin typeface="Arial"/>
                          <a:ea typeface="Arial"/>
                        </a:rPr>
                        <a:t>Binary</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150" spc="-1" strike="noStrike">
                          <a:solidFill>
                            <a:srgbClr val="000000"/>
                          </a:solidFill>
                          <a:latin typeface="Arial"/>
                          <a:ea typeface="Arial"/>
                        </a:rPr>
                        <a:t>Size</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150" spc="-1" strike="noStrike">
                          <a:solidFill>
                            <a:srgbClr val="000000"/>
                          </a:solidFill>
                          <a:latin typeface="Arial"/>
                          <a:ea typeface="Arial"/>
                        </a:rPr>
                        <a:t>Role</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150" spc="-1" strike="noStrike">
                          <a:solidFill>
                            <a:srgbClr val="000000"/>
                          </a:solidFill>
                          <a:latin typeface="Arial"/>
                          <a:ea typeface="Arial"/>
                        </a:rPr>
                        <a:t>On pipeline path?</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150" spc="-1" strike="noStrike">
                          <a:solidFill>
                            <a:srgbClr val="000000"/>
                          </a:solidFill>
                          <a:latin typeface="Courier New"/>
                          <a:ea typeface="Courier New"/>
                        </a:rPr>
                        <a:t>hex</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150" spc="-1" strike="noStrike">
                          <a:solidFill>
                            <a:srgbClr val="000000"/>
                          </a:solidFill>
                          <a:latin typeface="Arial"/>
                          <a:ea typeface="Arial"/>
                        </a:rPr>
                        <a:t>9.1 MB</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150" spc="-1" strike="noStrike">
                          <a:solidFill>
                            <a:srgbClr val="000000"/>
                          </a:solidFill>
                          <a:latin typeface="Arial"/>
                          <a:ea typeface="Arial"/>
                        </a:rPr>
                        <a:t>the whole 4-stage pipeline (deform…hexahedralize); driven by cli_run/run.sh</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150" spc="-1" strike="noStrike">
                          <a:solidFill>
                            <a:srgbClr val="000000"/>
                          </a:solidFill>
                          <a:latin typeface="Arial"/>
                          <a:ea typeface="Arial"/>
                        </a:rPr>
                        <a:t>Yes — this is the tool</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150" spc="-1" strike="noStrike">
                          <a:solidFill>
                            <a:srgbClr val="000000"/>
                          </a:solidFill>
                          <a:latin typeface="Courier New"/>
                          <a:ea typeface="Courier New"/>
                        </a:rPr>
                        <a:t>polycube_withHexEx (evocube)</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150" spc="-1" strike="noStrike">
                          <a:solidFill>
                            <a:srgbClr val="000000"/>
                          </a:solidFill>
                          <a:latin typeface="Arial"/>
                          <a:ea typeface="Arial"/>
                        </a:rPr>
                        <a:t>13.5 MB</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150" spc="-1" strike="noStrike">
                          <a:solidFill>
                            <a:srgbClr val="000000"/>
                          </a:solidFill>
                          <a:latin typeface="Arial"/>
                          <a:ea typeface="Arial"/>
                        </a:rPr>
                        <a:t>generates fresh polycube inputs from raw .obj</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150" spc="-1" strike="noStrike">
                          <a:solidFill>
                            <a:srgbClr val="000000"/>
                          </a:solidFill>
                          <a:latin typeface="Arial"/>
                          <a:ea typeface="Arial"/>
                        </a:rPr>
                        <a:t>No — prep utility</a:t>
                      </a:r>
                      <a:endParaRPr b="0" lang="en-US" sz="11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76" name="Text 2"/>
          <p:cNvSpPr/>
          <p:nvPr/>
        </p:nvSpPr>
        <p:spPr>
          <a:xfrm>
            <a:off x="548640" y="333756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100"/>
              </a:spcAft>
              <a:buClr>
                <a:srgbClr val="000000"/>
              </a:buClr>
              <a:buFont typeface="Symbol" charset="2"/>
              <a:buChar char=""/>
            </a:pPr>
            <a:r>
              <a:rPr b="0" lang="en-US" sz="1450" spc="-1" strike="noStrike">
                <a:solidFill>
                  <a:srgbClr val="000000"/>
                </a:solidFill>
                <a:latin typeface="Courier New"/>
                <a:ea typeface="Courier New"/>
              </a:rPr>
              <a:t>hex</a:t>
            </a:r>
            <a:r>
              <a:rPr b="0" lang="en-US" sz="1450" spc="-1" strike="noStrike">
                <a:solidFill>
                  <a:srgbClr val="000000"/>
                </a:solidFill>
                <a:latin typeface="Arial"/>
                <a:ea typeface="Arial"/>
              </a:rPr>
              <a:t>: ELF 64-bit, dynamically linked, ldd clean, Week-3 build with --headless + --device</a:t>
            </a:r>
            <a:endParaRPr b="0" lang="en-US" sz="1450" spc="-1" strike="noStrike">
              <a:latin typeface="Arial"/>
            </a:endParaRPr>
          </a:p>
          <a:p>
            <a:pPr marL="228600" indent="-228600">
              <a:lnSpc>
                <a:spcPct val="100000"/>
              </a:lnSpc>
              <a:spcAft>
                <a:spcPts val="1100"/>
              </a:spcAft>
              <a:buClr>
                <a:srgbClr val="000000"/>
              </a:buClr>
              <a:buFont typeface="Symbol" charset="2"/>
              <a:buChar char=""/>
            </a:pPr>
            <a:r>
              <a:rPr b="0" lang="en-US" sz="1450" spc="-1" strike="noStrike">
                <a:solidFill>
                  <a:srgbClr val="000000"/>
                </a:solidFill>
                <a:latin typeface="Courier New"/>
                <a:ea typeface="Courier New"/>
              </a:rPr>
              <a:t>hex</a:t>
            </a:r>
            <a:r>
              <a:rPr b="0" lang="en-US" sz="1450" spc="-1" strike="noStrike">
                <a:solidFill>
                  <a:srgbClr val="000000"/>
                </a:solidFill>
                <a:latin typeface="Arial"/>
                <a:ea typeface="Arial"/>
              </a:rPr>
              <a:t> sha256 8be05b3b…cae508  ·  evocube sha256 4e72ae09…2d062  (provenance in dist/MANIFEST)</a:t>
            </a:r>
            <a:endParaRPr b="0" lang="en-US" sz="1450" spc="-1" strike="noStrike">
              <a:latin typeface="Arial"/>
            </a:endParaRPr>
          </a:p>
          <a:p>
            <a:pPr marL="228600" indent="-228600">
              <a:lnSpc>
                <a:spcPct val="100000"/>
              </a:lnSpc>
              <a:spcAft>
                <a:spcPts val="1100"/>
              </a:spcAft>
              <a:buClr>
                <a:srgbClr val="000000"/>
              </a:buClr>
              <a:buFont typeface="Symbol" charset="2"/>
              <a:buChar char=""/>
            </a:pPr>
            <a:r>
              <a:rPr b="1" lang="en-US" sz="1450" spc="-1" strike="noStrike">
                <a:solidFill>
                  <a:srgbClr val="000000"/>
                </a:solidFill>
                <a:latin typeface="Arial"/>
                <a:ea typeface="Arial"/>
              </a:rPr>
              <a:t>Delivery (2 ways): </a:t>
            </a:r>
            <a:r>
              <a:rPr b="0" lang="en-US" sz="1450" spc="-1" strike="noStrike">
                <a:solidFill>
                  <a:srgbClr val="000000"/>
                </a:solidFill>
                <a:latin typeface="Arial"/>
                <a:ea typeface="Arial"/>
              </a:rPr>
              <a:t>the Docker image (portable, recommended), or the bare binary as a GitHub Release asset + a dist/…tar.gz (7.5 MB)</a:t>
            </a:r>
            <a:endParaRPr b="0" lang="en-US" sz="1450" spc="-1" strike="noStrike">
              <a:latin typeface="Arial"/>
            </a:endParaRPr>
          </a:p>
        </p:txBody>
      </p:sp>
      <p:sp>
        <p:nvSpPr>
          <p:cNvPr id="77"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8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B — DOCKER IMAGES &amp; THE BINARIES</a:t>
            </a:r>
            <a:endParaRPr b="0" lang="en-US" sz="1050" spc="-1" strike="noStrike">
              <a:latin typeface="Arial"/>
            </a:endParaRPr>
          </a:p>
        </p:txBody>
      </p:sp>
      <p:sp>
        <p:nvSpPr>
          <p:cNvPr id="79"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Pinned component versions (the matching environment)</a:t>
            </a:r>
            <a:endParaRPr b="0" lang="en-US" sz="2600" spc="-1" strike="noStrike">
              <a:latin typeface="Arial"/>
            </a:endParaRPr>
          </a:p>
        </p:txBody>
      </p:sp>
      <p:graphicFrame>
        <p:nvGraphicFramePr>
          <p:cNvPr id="80" name="Table 0"/>
          <p:cNvGraphicFramePr/>
          <p:nvPr/>
        </p:nvGraphicFramePr>
        <p:xfrm>
          <a:off x="548640" y="1554480"/>
          <a:ext cx="11091240" cy="0"/>
        </p:xfrm>
        <a:graphic>
          <a:graphicData uri="http://schemas.openxmlformats.org/drawingml/2006/table">
            <a:tbl>
              <a:tblPr/>
              <a:tblGrid>
                <a:gridCol w="2651760"/>
                <a:gridCol w="8439840"/>
              </a:tblGrid>
              <a:tr h="0">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Component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Version / source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Base image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Courier New"/>
                          <a:ea typeface="Courier New"/>
                        </a:rPr>
                        <a:t>nvcr.io/nvidia/cuda:12.4.1-cudnn-{devel,runtime}-ubuntu22.04</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CUDA</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12.4  (host NVIDIA driver must support ≥ this)</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LibTorch</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Courier New"/>
                          <a:ea typeface="Courier New"/>
                        </a:rPr>
                        <a:t>2.6.0+cu124  (download.pytorch.org)</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Vulkan SDK</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Courier New"/>
                          <a:ea typeface="Courier New"/>
                        </a:rPr>
                        <a:t>1.3.268.0  (proven; pinned in compile.sh / run.sh)</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evocube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Courier New"/>
                          <a:ea typeface="Courier New"/>
                        </a:rPr>
                        <a:t>github.com/xmlyqing00/evocube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CDM source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Courier New"/>
                          <a:ea typeface="Courier New"/>
                        </a:rPr>
                        <a:t>github.com/DavranDev/interactive-hex-meshing, branch cli-runner</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81" name="Text 2"/>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9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C — PROVING THE METHODS WORK</a:t>
            </a:r>
            <a:endParaRPr b="0" lang="en-US" sz="1050" spc="-1" strike="noStrike">
              <a:latin typeface="Arial"/>
            </a:endParaRPr>
          </a:p>
        </p:txBody>
      </p:sp>
      <p:sp>
        <p:nvSpPr>
          <p:cNvPr id="83"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The one-command test:  smoke_test.sh</a:t>
            </a:r>
            <a:endParaRPr b="0" lang="en-US" sz="2600" spc="-1" strike="noStrike">
              <a:latin typeface="Arial"/>
            </a:endParaRPr>
          </a:p>
        </p:txBody>
      </p:sp>
      <p:sp>
        <p:nvSpPr>
          <p:cNvPr id="84"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100"/>
              </a:spcAft>
              <a:buClr>
                <a:srgbClr val="000000"/>
              </a:buClr>
              <a:buFont typeface="Symbol" charset="2"/>
              <a:buChar char=""/>
            </a:pPr>
            <a:r>
              <a:rPr b="0" lang="en-US" sz="1600" spc="-1" strike="noStrike">
                <a:solidFill>
                  <a:srgbClr val="000000"/>
                </a:solidFill>
                <a:latin typeface="Arial"/>
                <a:ea typeface="Arial"/>
              </a:rPr>
              <a:t>Runs </a:t>
            </a:r>
            <a:r>
              <a:rPr b="1" lang="en-US" sz="1600" spc="-1" strike="noStrike">
                <a:solidFill>
                  <a:srgbClr val="000000"/>
                </a:solidFill>
                <a:latin typeface="Arial"/>
                <a:ea typeface="Arial"/>
              </a:rPr>
              <a:t>all four stages</a:t>
            </a:r>
            <a:r>
              <a:rPr b="0" lang="en-US" sz="1600" spc="-1" strike="noStrike">
                <a:solidFill>
                  <a:srgbClr val="000000"/>
                </a:solidFill>
                <a:latin typeface="Arial"/>
                <a:ea typeface="Arial"/>
              </a:rPr>
              <a:t> on a tutorial mesh, chaining each stage's HDF5 into the next</a:t>
            </a:r>
            <a:endParaRPr b="0" lang="en-US" sz="1600" spc="-1" strike="noStrike">
              <a:latin typeface="Arial"/>
            </a:endParaRPr>
          </a:p>
          <a:p>
            <a:pPr marL="228600" indent="-228600">
              <a:lnSpc>
                <a:spcPct val="100000"/>
              </a:lnSpc>
              <a:spcAft>
                <a:spcPts val="1100"/>
              </a:spcAft>
              <a:buClr>
                <a:srgbClr val="000000"/>
              </a:buClr>
              <a:buFont typeface="Symbol" charset="2"/>
              <a:buChar char=""/>
            </a:pPr>
            <a:r>
              <a:rPr b="1" lang="en-US" sz="1600" spc="-1" strike="noStrike">
                <a:solidFill>
                  <a:srgbClr val="000000"/>
                </a:solidFill>
                <a:latin typeface="Arial"/>
                <a:ea typeface="Arial"/>
              </a:rPr>
              <a:t>Hard pass gate: </a:t>
            </a:r>
            <a:r>
              <a:rPr b="0" lang="en-US" sz="1600" spc="-1" strike="noStrike">
                <a:solidFill>
                  <a:srgbClr val="000000"/>
                </a:solidFill>
                <a:latin typeface="Courier New"/>
                <a:ea typeface="Courier New"/>
              </a:rPr>
              <a:t>inverted_count == 0</a:t>
            </a:r>
            <a:r>
              <a:rPr b="0" lang="en-US" sz="1600" spc="-1" strike="noStrike">
                <a:solidFill>
                  <a:srgbClr val="000000"/>
                </a:solidFill>
                <a:latin typeface="Arial"/>
                <a:ea typeface="Arial"/>
              </a:rPr>
              <a:t>  AND  </a:t>
            </a:r>
            <a:r>
              <a:rPr b="0" lang="en-US" sz="1600" spc="-1" strike="noStrike">
                <a:solidFill>
                  <a:srgbClr val="000000"/>
                </a:solidFill>
                <a:latin typeface="Courier New"/>
                <a:ea typeface="Courier New"/>
              </a:rPr>
              <a:t>total_hexes &gt; 0</a:t>
            </a:r>
            <a:endParaRPr b="0" lang="en-US" sz="1600" spc="-1" strike="noStrike">
              <a:latin typeface="Arial"/>
            </a:endParaRPr>
          </a:p>
          <a:p>
            <a:pPr marL="228600" indent="-228600">
              <a:lnSpc>
                <a:spcPct val="100000"/>
              </a:lnSpc>
              <a:spcAft>
                <a:spcPts val="1100"/>
              </a:spcAft>
              <a:buClr>
                <a:srgbClr val="000000"/>
              </a:buClr>
              <a:buFont typeface="Symbol" charset="2"/>
              <a:buChar char=""/>
            </a:pPr>
            <a:r>
              <a:rPr b="0" lang="en-US" sz="1600" spc="-1" strike="noStrike">
                <a:solidFill>
                  <a:srgbClr val="000000"/>
                </a:solidFill>
                <a:latin typeface="Arial"/>
                <a:ea typeface="Arial"/>
              </a:rPr>
              <a:t>One switch flips display mode:</a:t>
            </a:r>
            <a:endParaRPr b="0" lang="en-US" sz="1600" spc="-1" strike="noStrike">
              <a:latin typeface="Arial"/>
            </a:endParaRPr>
          </a:p>
        </p:txBody>
      </p:sp>
      <p:sp>
        <p:nvSpPr>
          <p:cNvPr id="85" name="Text 3"/>
          <p:cNvSpPr/>
          <p:nvPr/>
        </p:nvSpPr>
        <p:spPr>
          <a:xfrm>
            <a:off x="713160" y="3520440"/>
            <a:ext cx="10762200" cy="63972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./cli_run/smoke_test.sh                  # GUI / --exit-after path (needs X11 or xvfb)</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SMOKE_HEADLESS=1 ./cli_run/smoke_test.sh # true headless (no display)</a:t>
            </a:r>
            <a:endParaRPr b="0" lang="en-US" sz="1200" spc="-1" strike="noStrike">
              <a:latin typeface="Arial"/>
            </a:endParaRPr>
          </a:p>
        </p:txBody>
      </p:sp>
      <p:sp>
        <p:nvSpPr>
          <p:cNvPr id="86" name="Text 4"/>
          <p:cNvSpPr/>
          <p:nvPr/>
        </p:nvSpPr>
        <p:spPr>
          <a:xfrm>
            <a:off x="548640" y="443484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901"/>
              </a:spcAft>
              <a:buClr>
                <a:srgbClr val="000000"/>
              </a:buClr>
              <a:buFont typeface="Symbol" charset="2"/>
              <a:buChar char=""/>
            </a:pPr>
            <a:r>
              <a:rPr b="0" lang="en-US" sz="1600" spc="-1" strike="noStrike">
                <a:solidFill>
                  <a:srgbClr val="000000"/>
                </a:solidFill>
                <a:latin typeface="Arial"/>
                <a:ea typeface="Arial"/>
              </a:rPr>
              <a:t>Prints  </a:t>
            </a:r>
            <a:r>
              <a:rPr b="0" lang="en-US" sz="1600" spc="-1" strike="noStrike">
                <a:solidFill>
                  <a:srgbClr val="000000"/>
                </a:solidFill>
                <a:latin typeface="Courier New"/>
                <a:ea typeface="Courier New"/>
              </a:rPr>
              <a:t>PASS: valid hex mesh (18526 hexes, 0 inverted)</a:t>
            </a:r>
            <a:endParaRPr b="0" lang="en-US" sz="1600" spc="-1" strike="noStrike">
              <a:latin typeface="Arial"/>
            </a:endParaRPr>
          </a:p>
        </p:txBody>
      </p:sp>
      <p:sp>
        <p:nvSpPr>
          <p:cNvPr id="87" name="Text 5"/>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10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C — PROVING THE METHODS WORK</a:t>
            </a:r>
            <a:endParaRPr b="0" lang="en-US" sz="1050" spc="-1" strike="noStrike">
              <a:latin typeface="Arial"/>
            </a:endParaRPr>
          </a:p>
        </p:txBody>
      </p:sp>
      <p:sp>
        <p:nvSpPr>
          <p:cNvPr id="89"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Verification matrix (same result, every path)</a:t>
            </a:r>
            <a:endParaRPr b="0" lang="en-US" sz="2600" spc="-1" strike="noStrike">
              <a:latin typeface="Arial"/>
            </a:endParaRPr>
          </a:p>
        </p:txBody>
      </p:sp>
      <p:sp>
        <p:nvSpPr>
          <p:cNvPr id="90" name="Text 2"/>
          <p:cNvSpPr/>
          <p:nvPr/>
        </p:nvSpPr>
        <p:spPr>
          <a:xfrm>
            <a:off x="548640" y="1554480"/>
            <a:ext cx="1109124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600" spc="-1" strike="noStrike">
                <a:solidFill>
                  <a:srgbClr val="000000"/>
                </a:solidFill>
                <a:latin typeface="Courier New"/>
                <a:ea typeface="Courier New"/>
              </a:rPr>
              <a:t>spot.mesh</a:t>
            </a:r>
            <a:r>
              <a:rPr b="1" lang="en-US" sz="1600" spc="-1" strike="noStrike">
                <a:solidFill>
                  <a:srgbClr val="000000"/>
                </a:solidFill>
                <a:latin typeface="Arial"/>
                <a:ea typeface="Arial"/>
              </a:rPr>
              <a:t>  →  18,526 hexes, 0 inverted, scaled-Jacobian mean ≈ 0.86  — identical across:</a:t>
            </a:r>
            <a:endParaRPr b="0" lang="en-US" sz="1600" spc="-1" strike="noStrike">
              <a:latin typeface="Arial"/>
            </a:endParaRPr>
          </a:p>
        </p:txBody>
      </p:sp>
      <p:sp>
        <p:nvSpPr>
          <p:cNvPr id="91" name="Text 3"/>
          <p:cNvSpPr/>
          <p:nvPr/>
        </p:nvSpPr>
        <p:spPr>
          <a:xfrm>
            <a:off x="548640" y="219456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199"/>
              </a:spcAft>
              <a:buClr>
                <a:srgbClr val="000000"/>
              </a:buClr>
              <a:buFont typeface="Symbol" charset="2"/>
              <a:buChar char=""/>
            </a:pPr>
            <a:r>
              <a:rPr b="0" lang="en-US" sz="1600" spc="-1" strike="noStrike">
                <a:solidFill>
                  <a:srgbClr val="000000"/>
                </a:solidFill>
                <a:latin typeface="Arial"/>
                <a:ea typeface="Arial"/>
              </a:rPr>
              <a:t>GUI via xvfb (virtual display)</a:t>
            </a:r>
            <a:endParaRPr b="0" lang="en-US" sz="1600" spc="-1" strike="noStrike">
              <a:latin typeface="Arial"/>
            </a:endParaRPr>
          </a:p>
          <a:p>
            <a:pPr marL="228600" indent="-228600">
              <a:lnSpc>
                <a:spcPct val="100000"/>
              </a:lnSpc>
              <a:spcAft>
                <a:spcPts val="1199"/>
              </a:spcAft>
              <a:buClr>
                <a:srgbClr val="000000"/>
              </a:buClr>
              <a:buFont typeface="Symbol" charset="2"/>
              <a:buChar char=""/>
            </a:pPr>
            <a:r>
              <a:rPr b="0" lang="en-US" sz="1600" spc="-1" strike="noStrike">
                <a:solidFill>
                  <a:srgbClr val="000000"/>
                </a:solidFill>
                <a:latin typeface="Courier New"/>
                <a:ea typeface="Courier New"/>
              </a:rPr>
              <a:t>--headless</a:t>
            </a:r>
            <a:r>
              <a:rPr b="0" lang="en-US" sz="1600" spc="-1" strike="noStrike">
                <a:solidFill>
                  <a:srgbClr val="000000"/>
                </a:solidFill>
                <a:latin typeface="Arial"/>
                <a:ea typeface="Arial"/>
              </a:rPr>
              <a:t>  (no display at all)</a:t>
            </a:r>
            <a:endParaRPr b="0" lang="en-US" sz="1600" spc="-1" strike="noStrike">
              <a:latin typeface="Arial"/>
            </a:endParaRPr>
          </a:p>
          <a:p>
            <a:pPr marL="228600" indent="-228600">
              <a:lnSpc>
                <a:spcPct val="100000"/>
              </a:lnSpc>
              <a:spcAft>
                <a:spcPts val="1199"/>
              </a:spcAft>
              <a:buClr>
                <a:srgbClr val="000000"/>
              </a:buClr>
              <a:buFont typeface="Symbol" charset="2"/>
              <a:buChar char=""/>
            </a:pPr>
            <a:r>
              <a:rPr b="0" lang="en-US" sz="1600" spc="-1" strike="noStrike">
                <a:solidFill>
                  <a:srgbClr val="000000"/>
                </a:solidFill>
                <a:latin typeface="Arial"/>
                <a:ea typeface="Arial"/>
              </a:rPr>
              <a:t>slim image, out of the box</a:t>
            </a:r>
            <a:endParaRPr b="0" lang="en-US" sz="1600" spc="-1" strike="noStrike">
              <a:latin typeface="Arial"/>
            </a:endParaRPr>
          </a:p>
          <a:p>
            <a:pPr marL="228600" indent="-228600">
              <a:lnSpc>
                <a:spcPct val="100000"/>
              </a:lnSpc>
              <a:spcAft>
                <a:spcPts val="1199"/>
              </a:spcAft>
              <a:buClr>
                <a:srgbClr val="000000"/>
              </a:buClr>
              <a:buFont typeface="Symbol" charset="2"/>
              <a:buChar char=""/>
            </a:pPr>
            <a:r>
              <a:rPr b="0" lang="en-US" sz="1600" spc="-1" strike="noStrike">
                <a:solidFill>
                  <a:srgbClr val="000000"/>
                </a:solidFill>
                <a:latin typeface="Arial"/>
                <a:ea typeface="Arial"/>
              </a:rPr>
              <a:t>the bare extracted binary, in a matching env </a:t>
            </a:r>
            <a:r>
              <a:rPr b="0" i="1" lang="en-US" sz="1600" spc="-1" strike="noStrike">
                <a:solidFill>
                  <a:srgbClr val="000000"/>
                </a:solidFill>
                <a:latin typeface="Arial"/>
                <a:ea typeface="Arial"/>
              </a:rPr>
              <a:t>it did not build</a:t>
            </a:r>
            <a:endParaRPr b="0" lang="en-US" sz="1600" spc="-1" strike="noStrike">
              <a:latin typeface="Arial"/>
            </a:endParaRPr>
          </a:p>
          <a:p>
            <a:pPr marL="228600" indent="-228600">
              <a:lnSpc>
                <a:spcPct val="100000"/>
              </a:lnSpc>
              <a:spcAft>
                <a:spcPts val="1199"/>
              </a:spcAft>
              <a:buClr>
                <a:srgbClr val="000000"/>
              </a:buClr>
              <a:buFont typeface="Symbol" charset="2"/>
              <a:buChar char=""/>
            </a:pPr>
            <a:r>
              <a:rPr b="0" lang="en-US" sz="1600" spc="-1" strike="noStrike">
                <a:solidFill>
                  <a:srgbClr val="000000"/>
                </a:solidFill>
                <a:latin typeface="Courier New"/>
                <a:ea typeface="Courier New"/>
              </a:rPr>
              <a:t>--device cpu</a:t>
            </a:r>
            <a:r>
              <a:rPr b="0" lang="en-US" sz="1600" spc="-1" strike="noStrike">
                <a:solidFill>
                  <a:srgbClr val="000000"/>
                </a:solidFill>
                <a:latin typeface="Arial"/>
                <a:ea typeface="Arial"/>
              </a:rPr>
              <a:t>  with </a:t>
            </a:r>
            <a:r>
              <a:rPr b="1" lang="en-US" sz="1600" spc="-1" strike="noStrike">
                <a:solidFill>
                  <a:srgbClr val="000000"/>
                </a:solidFill>
                <a:latin typeface="Arial"/>
                <a:ea typeface="Arial"/>
              </a:rPr>
              <a:t>no GPU at all</a:t>
            </a:r>
            <a:r>
              <a:rPr b="0" lang="en-US" sz="1600" spc="-1" strike="noStrike">
                <a:solidFill>
                  <a:srgbClr val="000000"/>
                </a:solidFill>
                <a:latin typeface="Arial"/>
                <a:ea typeface="Arial"/>
              </a:rPr>
              <a:t>  (docker run without --gpus)</a:t>
            </a:r>
            <a:endParaRPr b="0" lang="en-US" sz="1600" spc="-1" strike="noStrike">
              <a:latin typeface="Arial"/>
            </a:endParaRPr>
          </a:p>
        </p:txBody>
      </p:sp>
      <p:sp>
        <p:nvSpPr>
          <p:cNvPr id="92"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11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C — PROVING THE METHODS WORK</a:t>
            </a:r>
            <a:endParaRPr b="0" lang="en-US" sz="1050" spc="-1" strike="noStrike">
              <a:latin typeface="Arial"/>
            </a:endParaRPr>
          </a:p>
        </p:txBody>
      </p:sp>
      <p:sp>
        <p:nvSpPr>
          <p:cNvPr id="94"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Per-stage runtime GPU evidence (nvidia-smi, RTX 4090)</a:t>
            </a:r>
            <a:endParaRPr b="0" lang="en-US" sz="2600" spc="-1" strike="noStrike">
              <a:latin typeface="Arial"/>
            </a:endParaRPr>
          </a:p>
        </p:txBody>
      </p:sp>
      <p:graphicFrame>
        <p:nvGraphicFramePr>
          <p:cNvPr id="95" name="Table 0"/>
          <p:cNvGraphicFramePr/>
          <p:nvPr/>
        </p:nvGraphicFramePr>
        <p:xfrm>
          <a:off x="548640" y="1554480"/>
          <a:ext cx="11091240" cy="0"/>
        </p:xfrm>
        <a:graphic>
          <a:graphicData uri="http://schemas.openxmlformats.org/drawingml/2006/table">
            <a:tbl>
              <a:tblPr/>
              <a:tblGrid>
                <a:gridCol w="2377440"/>
                <a:gridCol w="2103120"/>
                <a:gridCol w="3200400"/>
                <a:gridCol w="3410640"/>
              </a:tblGrid>
              <a:tr h="0">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Stage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300" spc="-1" strike="noStrike">
                          <a:solidFill>
                            <a:srgbClr val="000000"/>
                          </a:solidFill>
                          <a:latin typeface="Arial"/>
                          <a:ea typeface="Arial"/>
                        </a:rPr>
                        <a:t>peak GPU util</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CUDA compute?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CPU-only verdict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0  deform</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72%</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yes (libtorch only)</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cheap (device knob)</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1  decompose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55%</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yes (SDF kernel)</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needs kernel port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2  discretize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300" spc="-1" strike="noStrike">
                          <a:solidFill>
                            <a:srgbClr val="000000"/>
                          </a:solidFill>
                          <a:latin typeface="Arial"/>
                          <a:ea typeface="Arial"/>
                        </a:rPr>
                        <a:t>13%</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no</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runs CPU-only now</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3  hexahedralize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66%</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yes (projection kernel)</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needs kernel port</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96" name="Text 2"/>
          <p:cNvSpPr/>
          <p:nvPr/>
        </p:nvSpPr>
        <p:spPr>
          <a:xfrm>
            <a:off x="548640" y="4206240"/>
            <a:ext cx="11091240" cy="10969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400" spc="-1" strike="noStrike">
                <a:solidFill>
                  <a:srgbClr val="000000"/>
                </a:solidFill>
                <a:latin typeface="Arial"/>
                <a:ea typeface="Arial"/>
              </a:rPr>
              <a:t>Polled nvidia-smi every 100 ms per stage. Three stages sit at 55–72% (CUDA-active); discretize barely moves at 13% — runtime confirmation that it does no CUDA compute. That measurement is what turned the CPU-only plan from guesswork into a concrete map.</a:t>
            </a:r>
            <a:endParaRPr b="0" lang="en-US" sz="1400" spc="-1" strike="noStrike">
              <a:latin typeface="Arial"/>
            </a:endParaRPr>
          </a:p>
        </p:txBody>
      </p:sp>
      <p:sp>
        <p:nvSpPr>
          <p:cNvPr id="97"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12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D — HOW EACH MODE WAS BUILT</a:t>
            </a:r>
            <a:endParaRPr b="0" lang="en-US" sz="1050" spc="-1" strike="noStrike">
              <a:latin typeface="Arial"/>
            </a:endParaRPr>
          </a:p>
        </p:txBody>
      </p:sp>
      <p:sp>
        <p:nvSpPr>
          <p:cNvPr id="99"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GUI &amp; --exit-after (the Week-1 baseline, item #10)</a:t>
            </a:r>
            <a:endParaRPr b="0" lang="en-US" sz="2600" spc="-1" strike="noStrike">
              <a:latin typeface="Arial"/>
            </a:endParaRPr>
          </a:p>
        </p:txBody>
      </p:sp>
      <p:sp>
        <p:nvSpPr>
          <p:cNvPr id="100"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199"/>
              </a:spcAft>
              <a:buClr>
                <a:srgbClr val="000000"/>
              </a:buClr>
              <a:buFont typeface="Symbol" charset="2"/>
              <a:buChar char=""/>
            </a:pPr>
            <a:r>
              <a:rPr b="1" lang="en-US" sz="1600" spc="-1" strike="noStrike">
                <a:solidFill>
                  <a:srgbClr val="000000"/>
                </a:solidFill>
                <a:latin typeface="Arial"/>
                <a:ea typeface="Arial"/>
              </a:rPr>
              <a:t>GUI (default): </a:t>
            </a:r>
            <a:r>
              <a:rPr b="0" lang="en-US" sz="1600" spc="-1" strike="noStrike">
                <a:solidFill>
                  <a:srgbClr val="000000"/>
                </a:solidFill>
                <a:latin typeface="Arial"/>
                <a:ea typeface="Arial"/>
              </a:rPr>
              <a:t>opens the Vulkan window, interactive</a:t>
            </a:r>
            <a:endParaRPr b="0" lang="en-US" sz="1600" spc="-1" strike="noStrike">
              <a:latin typeface="Arial"/>
            </a:endParaRPr>
          </a:p>
          <a:p>
            <a:pPr marL="228600" indent="-228600">
              <a:lnSpc>
                <a:spcPct val="100000"/>
              </a:lnSpc>
              <a:spcAft>
                <a:spcPts val="1199"/>
              </a:spcAft>
              <a:buClr>
                <a:srgbClr val="000000"/>
              </a:buClr>
              <a:buFont typeface="Symbol" charset="2"/>
              <a:buChar char=""/>
            </a:pPr>
            <a:r>
              <a:rPr b="1" lang="en-US" sz="1600" spc="-1" strike="noStrike">
                <a:solidFill>
                  <a:srgbClr val="000000"/>
                </a:solidFill>
                <a:latin typeface="Courier New"/>
                <a:ea typeface="Courier New"/>
              </a:rPr>
              <a:t>--exit-after</a:t>
            </a:r>
            <a:r>
              <a:rPr b="0" lang="en-US" sz="1600" spc="-1" strike="noStrike">
                <a:solidFill>
                  <a:srgbClr val="000000"/>
                </a:solidFill>
                <a:latin typeface="Arial"/>
                <a:ea typeface="Arial"/>
              </a:rPr>
              <a:t>:  opens the window, runs the script, </a:t>
            </a:r>
            <a:r>
              <a:rPr b="1" lang="en-US" sz="1600" spc="-1" strike="noStrike">
                <a:solidFill>
                  <a:srgbClr val="000000"/>
                </a:solidFill>
                <a:latin typeface="Arial"/>
                <a:ea typeface="Arial"/>
              </a:rPr>
              <a:t>closes it</a:t>
            </a:r>
            <a:r>
              <a:rPr b="0" lang="en-US" sz="1600" spc="-1" strike="noStrike">
                <a:solidFill>
                  <a:srgbClr val="000000"/>
                </a:solidFill>
                <a:latin typeface="Arial"/>
                <a:ea typeface="Arial"/>
              </a:rPr>
              <a:t> — still needs a display (real X11 or xvfb)</a:t>
            </a:r>
            <a:endParaRPr b="0" lang="en-US" sz="1600" spc="-1" strike="noStrike">
              <a:latin typeface="Arial"/>
            </a:endParaRPr>
          </a:p>
          <a:p>
            <a:pPr marL="228600" indent="-228600">
              <a:lnSpc>
                <a:spcPct val="100000"/>
              </a:lnSpc>
              <a:spcAft>
                <a:spcPts val="1199"/>
              </a:spcAft>
              <a:buClr>
                <a:srgbClr val="000000"/>
              </a:buClr>
              <a:buFont typeface="Symbol" charset="2"/>
              <a:buChar char=""/>
            </a:pPr>
            <a:r>
              <a:rPr b="0" lang="en-US" sz="1600" spc="-1" strike="noStrike">
                <a:solidFill>
                  <a:srgbClr val="000000"/>
                </a:solidFill>
                <a:latin typeface="Arial"/>
                <a:ea typeface="Arial"/>
              </a:rPr>
              <a:t>This is </a:t>
            </a:r>
            <a:r>
              <a:rPr b="0" i="1" lang="en-US" sz="1600" spc="-1" strike="noStrike">
                <a:solidFill>
                  <a:srgbClr val="000000"/>
                </a:solidFill>
                <a:latin typeface="Arial"/>
                <a:ea typeface="Arial"/>
              </a:rPr>
              <a:t>scripted GUI automation</a:t>
            </a:r>
            <a:r>
              <a:rPr b="0" lang="en-US" sz="1600" spc="-1" strike="noStrike">
                <a:solidFill>
                  <a:srgbClr val="000000"/>
                </a:solidFill>
                <a:latin typeface="Arial"/>
                <a:ea typeface="Arial"/>
              </a:rPr>
              <a:t>, not yet true headless — the stepping-stone to --headless</a:t>
            </a:r>
            <a:endParaRPr b="0" lang="en-US" sz="1600" spc="-1" strike="noStrike">
              <a:latin typeface="Arial"/>
            </a:endParaRPr>
          </a:p>
        </p:txBody>
      </p:sp>
      <p:sp>
        <p:nvSpPr>
          <p:cNvPr id="101" name="Text 3"/>
          <p:cNvSpPr/>
          <p:nvPr/>
        </p:nvSpPr>
        <p:spPr>
          <a:xfrm>
            <a:off x="713160" y="3657600"/>
            <a:ext cx="10762200" cy="63972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xhost +local:root   # let the container reach your X server</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./cli_run/run.sh deform interactive-hex-meshing/assets/tutorial/spot.mesh --exit-after</a:t>
            </a:r>
            <a:endParaRPr b="0" lang="en-US" sz="1200" spc="-1" strike="noStrike">
              <a:latin typeface="Arial"/>
            </a:endParaRPr>
          </a:p>
        </p:txBody>
      </p:sp>
      <p:sp>
        <p:nvSpPr>
          <p:cNvPr id="102"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13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D — HOW EACH MODE WAS BUILT</a:t>
            </a:r>
            <a:endParaRPr b="0" lang="en-US" sz="1050" spc="-1" strike="noStrike">
              <a:latin typeface="Arial"/>
            </a:endParaRPr>
          </a:p>
        </p:txBody>
      </p:sp>
      <p:sp>
        <p:nvSpPr>
          <p:cNvPr id="104"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Headless mode — how it was built (item #11)</a:t>
            </a:r>
            <a:endParaRPr b="0" lang="en-US" sz="2600" spc="-1" strike="noStrike">
              <a:latin typeface="Arial"/>
            </a:endParaRPr>
          </a:p>
        </p:txBody>
      </p:sp>
      <p:sp>
        <p:nvSpPr>
          <p:cNvPr id="105" name="Text 2"/>
          <p:cNvSpPr/>
          <p:nvPr/>
        </p:nvSpPr>
        <p:spPr>
          <a:xfrm>
            <a:off x="548640" y="150876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Approach: </a:t>
            </a:r>
            <a:r>
              <a:rPr b="0" lang="en-US" sz="1450" spc="-1" strike="noStrike">
                <a:solidFill>
                  <a:srgbClr val="000000"/>
                </a:solidFill>
                <a:latin typeface="Arial"/>
                <a:ea typeface="Arial"/>
              </a:rPr>
              <a:t>"surfaceless Vulkan" (design B) — create no GLFW window, surface, swapchain, render pipelines, or GUI; keep the Vulkan device so buffers still allocate; never present; run script; exit</a:t>
            </a:r>
            <a:endParaRPr b="0" lang="en-US" sz="1450" spc="-1" strike="noStrike">
              <a:latin typeface="Arial"/>
            </a:endParaRPr>
          </a:p>
          <a:p>
            <a:pPr marL="228600" indent="-228600">
              <a:lnSpc>
                <a:spcPct val="100000"/>
              </a:lnSpc>
              <a:spcAft>
                <a:spcPts val="901"/>
              </a:spcAft>
              <a:buClr>
                <a:srgbClr val="000000"/>
              </a:buClr>
              <a:buFont typeface="Symbol" charset="2"/>
              <a:buChar char=""/>
            </a:pPr>
            <a:r>
              <a:rPr b="1" lang="en-US" sz="1450" spc="-1" strike="noStrike">
                <a:solidFill>
                  <a:srgbClr val="000000"/>
                </a:solidFill>
                <a:latin typeface="Arial"/>
                <a:ea typeface="Arial"/>
              </a:rPr>
              <a:t>Additive, confined to startup</a:t>
            </a:r>
            <a:r>
              <a:rPr b="0" lang="en-US" sz="1450" spc="-1" strike="noStrike">
                <a:solidFill>
                  <a:srgbClr val="000000"/>
                </a:solidFill>
                <a:latin typeface="Arial"/>
                <a:ea typeface="Arial"/>
              </a:rPr>
              <a:t> — 5 files, no stage / optimizer / view logic touched:</a:t>
            </a:r>
            <a:endParaRPr b="0" lang="en-US" sz="1450" spc="-1" strike="noStrike">
              <a:latin typeface="Arial"/>
            </a:endParaRPr>
          </a:p>
        </p:txBody>
      </p:sp>
      <p:graphicFrame>
        <p:nvGraphicFramePr>
          <p:cNvPr id="106" name="Table 0"/>
          <p:cNvGraphicFramePr/>
          <p:nvPr/>
        </p:nvGraphicFramePr>
        <p:xfrm>
          <a:off x="548640" y="3383280"/>
          <a:ext cx="11091240" cy="0"/>
        </p:xfrm>
        <a:graphic>
          <a:graphicData uri="http://schemas.openxmlformats.org/drawingml/2006/table">
            <a:tbl>
              <a:tblPr/>
              <a:tblGrid>
                <a:gridCol w="3749040"/>
                <a:gridCol w="7342560"/>
              </a:tblGrid>
              <a:tr h="0">
                <a:tc>
                  <a:txBody>
                    <a:bodyPr lIns="63360" rIns="63360" tIns="37800" bIns="37800" anchor="ctr">
                      <a:noAutofit/>
                    </a:bodyPr>
                    <a:p>
                      <a:pPr>
                        <a:lnSpc>
                          <a:spcPct val="100000"/>
                        </a:lnSpc>
                        <a:buNone/>
                        <a:tabLst>
                          <a:tab algn="l" pos="0"/>
                        </a:tabLst>
                      </a:pPr>
                      <a:r>
                        <a:rPr b="1" lang="en-US" sz="1250" spc="-1" strike="noStrike">
                          <a:solidFill>
                            <a:srgbClr val="000000"/>
                          </a:solidFill>
                          <a:latin typeface="Arial"/>
                          <a:ea typeface="Arial"/>
                        </a:rPr>
                        <a:t>File</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1" lang="en-US" sz="1250" spc="-1" strike="noStrike">
                          <a:solidFill>
                            <a:srgbClr val="000000"/>
                          </a:solidFill>
                          <a:latin typeface="Arial"/>
                          <a:ea typeface="Arial"/>
                        </a:rPr>
                        <a:t>Change</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50" spc="-1" strike="noStrike">
                          <a:solidFill>
                            <a:srgbClr val="000000"/>
                          </a:solidFill>
                          <a:latin typeface="Courier New"/>
                          <a:ea typeface="Courier New"/>
                        </a:rPr>
                        <a:t>hex/src/main.cpp</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250" spc="-1" strike="noStrike">
                          <a:solidFill>
                            <a:srgbClr val="000000"/>
                          </a:solidFill>
                          <a:latin typeface="Arial"/>
                          <a:ea typeface="Arial"/>
                        </a:rPr>
                        <a:t>parse --headless; skip MainLoop()</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50" spc="-1" strike="noStrike">
                          <a:solidFill>
                            <a:srgbClr val="000000"/>
                          </a:solidFill>
                          <a:latin typeface="Courier New"/>
                          <a:ea typeface="Courier New"/>
                        </a:rPr>
                        <a:t>vkoo/.../Application.{h,cpp}</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250" spc="-1" strike="noStrike">
                          <a:solidFill>
                            <a:srgbClr val="000000"/>
                          </a:solidFill>
                          <a:latin typeface="Arial"/>
                          <a:ea typeface="Arial"/>
                        </a:rPr>
                        <a:t>guard window / surface / swapchain / render-context behind !headless</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50" spc="-1" strike="noStrike">
                          <a:solidFill>
                            <a:srgbClr val="000000"/>
                          </a:solidFill>
                          <a:latin typeface="Courier New"/>
                          <a:ea typeface="Courier New"/>
                        </a:rPr>
                        <a:t>hex/src/HexMeshingApp.{h,cpp}</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250" spc="-1" strike="noStrike">
                          <a:solidFill>
                            <a:srgbClr val="000000"/>
                          </a:solidFill>
                          <a:latin typeface="Arial"/>
                          <a:ea typeface="Arial"/>
                        </a:rPr>
                        <a:t>skip render pipelines + GUI when headless</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250" spc="-1" strike="noStrike">
                          <a:solidFill>
                            <a:srgbClr val="000000"/>
                          </a:solidFill>
                          <a:latin typeface="Courier New"/>
                          <a:ea typeface="Courier New"/>
                        </a:rPr>
                        <a:t>cli_run/run.sh</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nSpc>
                          <a:spcPct val="100000"/>
                        </a:lnSpc>
                        <a:buNone/>
                        <a:tabLst>
                          <a:tab algn="l" pos="0"/>
                        </a:tabLst>
                      </a:pPr>
                      <a:r>
                        <a:rPr b="0" lang="en-US" sz="1250" spc="-1" strike="noStrike">
                          <a:solidFill>
                            <a:srgbClr val="000000"/>
                          </a:solidFill>
                          <a:latin typeface="Arial"/>
                          <a:ea typeface="Arial"/>
                        </a:rPr>
                        <a:t>forward --headless</a:t>
                      </a:r>
                      <a:endParaRPr b="0" lang="en-US" sz="125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107"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14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D — HOW EACH MODE WAS BUILT</a:t>
            </a:r>
            <a:endParaRPr b="0" lang="en-US" sz="1050" spc="-1" strike="noStrike">
              <a:latin typeface="Arial"/>
            </a:endParaRPr>
          </a:p>
        </p:txBody>
      </p:sp>
      <p:sp>
        <p:nvSpPr>
          <p:cNvPr id="109"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Headless mode — verified &amp; how to run</a:t>
            </a:r>
            <a:endParaRPr b="0" lang="en-US" sz="2600" spc="-1" strike="noStrike">
              <a:latin typeface="Arial"/>
            </a:endParaRPr>
          </a:p>
        </p:txBody>
      </p:sp>
      <p:sp>
        <p:nvSpPr>
          <p:cNvPr id="110"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100"/>
              </a:spcAft>
              <a:buClr>
                <a:srgbClr val="000000"/>
              </a:buClr>
              <a:buFont typeface="Symbol" charset="2"/>
              <a:buChar char=""/>
            </a:pPr>
            <a:r>
              <a:rPr b="1" lang="en-US" sz="1600" spc="-1" strike="noStrike">
                <a:solidFill>
                  <a:srgbClr val="000000"/>
                </a:solidFill>
                <a:latin typeface="Arial"/>
                <a:ea typeface="Arial"/>
              </a:rPr>
              <a:t>Metric gate PASS</a:t>
            </a:r>
            <a:r>
              <a:rPr b="0" lang="en-US" sz="1600" spc="-1" strike="noStrike">
                <a:solidFill>
                  <a:srgbClr val="000000"/>
                </a:solidFill>
                <a:latin typeface="Arial"/>
                <a:ea typeface="Arial"/>
              </a:rPr>
              <a:t> (RTX 4090, no DISPLAY): full chain → </a:t>
            </a:r>
            <a:r>
              <a:rPr b="0" lang="en-US" sz="1600" spc="-1" strike="noStrike">
                <a:solidFill>
                  <a:srgbClr val="000000"/>
                </a:solidFill>
                <a:latin typeface="Courier New"/>
                <a:ea typeface="Courier New"/>
              </a:rPr>
              <a:t>total_hexes 18526, inverted_count 0</a:t>
            </a:r>
            <a:r>
              <a:rPr b="0" lang="en-US" sz="1600" spc="-1" strike="noStrike">
                <a:solidFill>
                  <a:srgbClr val="000000"/>
                </a:solidFill>
                <a:latin typeface="Arial"/>
                <a:ea typeface="Arial"/>
              </a:rPr>
              <a:t> — identical to the GUI run</a:t>
            </a:r>
            <a:endParaRPr b="0" lang="en-US" sz="1600" spc="-1" strike="noStrike">
              <a:latin typeface="Arial"/>
            </a:endParaRPr>
          </a:p>
          <a:p>
            <a:pPr marL="228600" indent="-228600">
              <a:lnSpc>
                <a:spcPct val="100000"/>
              </a:lnSpc>
              <a:spcAft>
                <a:spcPts val="1100"/>
              </a:spcAft>
              <a:buClr>
                <a:srgbClr val="000000"/>
              </a:buClr>
              <a:buFont typeface="Symbol" charset="2"/>
              <a:buChar char=""/>
            </a:pPr>
            <a:r>
              <a:rPr b="0" lang="en-US" sz="1600" spc="-1" strike="noStrike">
                <a:solidFill>
                  <a:srgbClr val="000000"/>
                </a:solidFill>
                <a:latin typeface="Arial"/>
                <a:ea typeface="Arial"/>
              </a:rPr>
              <a:t>Needs a Vulkan ICD + GPU but </a:t>
            </a:r>
            <a:r>
              <a:rPr b="1" lang="en-US" sz="1600" spc="-1" strike="noStrike">
                <a:solidFill>
                  <a:srgbClr val="000000"/>
                </a:solidFill>
                <a:latin typeface="Arial"/>
                <a:ea typeface="Arial"/>
              </a:rPr>
              <a:t>no display, no xvfb</a:t>
            </a:r>
            <a:endParaRPr b="0" lang="en-US" sz="1600" spc="-1" strike="noStrike">
              <a:latin typeface="Arial"/>
            </a:endParaRPr>
          </a:p>
        </p:txBody>
      </p:sp>
      <p:sp>
        <p:nvSpPr>
          <p:cNvPr id="111" name="Text 3"/>
          <p:cNvSpPr/>
          <p:nvPr/>
        </p:nvSpPr>
        <p:spPr>
          <a:xfrm>
            <a:off x="713160" y="3246120"/>
            <a:ext cx="10762200" cy="95976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docker run --gpus all --rm -e NVIDIA_DRIVER_CAPABILITIES=all -e HEX_LOCAL=1 \</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  </a:t>
            </a:r>
            <a:r>
              <a:rPr b="0" lang="en-US" sz="1200" spc="-1" strike="noStrike">
                <a:solidFill>
                  <a:srgbClr val="000000"/>
                </a:solidFill>
                <a:latin typeface="Courier New"/>
                <a:ea typeface="Courier New"/>
              </a:rPr>
              <a:t>-v "$(pwd)/output:/space/output" hexmesh-cli:latest \</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  </a:t>
            </a:r>
            <a:r>
              <a:rPr b="0" lang="en-US" sz="1200" spc="-1" strike="noStrike">
                <a:solidFill>
                  <a:srgbClr val="000000"/>
                </a:solidFill>
                <a:latin typeface="Courier New"/>
                <a:ea typeface="Courier New"/>
              </a:rPr>
              <a:t>bash -lc 'SMOKE_HEADLESS=1 ./cli_run/smoke_test.sh'</a:t>
            </a:r>
            <a:endParaRPr b="0" lang="en-US" sz="1200" spc="-1" strike="noStrike">
              <a:latin typeface="Arial"/>
            </a:endParaRPr>
          </a:p>
        </p:txBody>
      </p:sp>
      <p:sp>
        <p:nvSpPr>
          <p:cNvPr id="112" name="Text 4"/>
          <p:cNvSpPr/>
          <p:nvPr/>
        </p:nvSpPr>
        <p:spPr>
          <a:xfrm>
            <a:off x="548640" y="457200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901"/>
              </a:spcAft>
              <a:buClr>
                <a:srgbClr val="000000"/>
              </a:buClr>
              <a:buFont typeface="Symbol" charset="2"/>
              <a:buChar char=""/>
            </a:pPr>
            <a:r>
              <a:rPr b="0" lang="en-US" sz="1600" spc="-1" strike="noStrike">
                <a:solidFill>
                  <a:srgbClr val="000000"/>
                </a:solidFill>
                <a:latin typeface="Arial"/>
                <a:ea typeface="Arial"/>
              </a:rPr>
              <a:t>Per stage:  </a:t>
            </a:r>
            <a:r>
              <a:rPr b="0" lang="en-US" sz="1600" spc="-1" strike="noStrike">
                <a:solidFill>
                  <a:srgbClr val="000000"/>
                </a:solidFill>
                <a:latin typeface="Courier New"/>
                <a:ea typeface="Courier New"/>
              </a:rPr>
              <a:t>HEX_LOCAL=1 ./cli_run/run.sh deform input.mesh --headless</a:t>
            </a:r>
            <a:endParaRPr b="0" lang="en-US" sz="1600" spc="-1" strike="noStrike">
              <a:latin typeface="Arial"/>
            </a:endParaRPr>
          </a:p>
        </p:txBody>
      </p:sp>
      <p:sp>
        <p:nvSpPr>
          <p:cNvPr id="113" name="Text 5"/>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15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D — HOW EACH MODE WAS BUILT</a:t>
            </a:r>
            <a:endParaRPr b="0" lang="en-US" sz="1050" spc="-1" strike="noStrike">
              <a:latin typeface="Arial"/>
            </a:endParaRPr>
          </a:p>
        </p:txBody>
      </p:sp>
      <p:sp>
        <p:nvSpPr>
          <p:cNvPr id="115"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CPU-only mode — how it was built (item #13)</a:t>
            </a:r>
            <a:endParaRPr b="0" lang="en-US" sz="2600" spc="-1" strike="noStrike">
              <a:latin typeface="Arial"/>
            </a:endParaRPr>
          </a:p>
        </p:txBody>
      </p:sp>
      <p:sp>
        <p:nvSpPr>
          <p:cNvPr id="116"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301"/>
              </a:spcAft>
              <a:buClr>
                <a:srgbClr val="000000"/>
              </a:buClr>
              <a:buFont typeface="Symbol" charset="2"/>
              <a:buChar char=""/>
            </a:pPr>
            <a:r>
              <a:rPr b="1" lang="en-US" sz="1450" spc="-1" strike="noStrike">
                <a:solidFill>
                  <a:srgbClr val="000000"/>
                </a:solidFill>
                <a:latin typeface="Arial"/>
                <a:ea typeface="Arial"/>
              </a:rPr>
              <a:t>Two-part change, additive, behind a default-cuda knob (GPU path unchanged):</a:t>
            </a:r>
            <a:endParaRPr b="0" lang="en-US" sz="1450" spc="-1" strike="noStrike">
              <a:latin typeface="Arial"/>
            </a:endParaRPr>
          </a:p>
          <a:p>
            <a:pPr lvl="1" marL="406440" indent="-203040">
              <a:lnSpc>
                <a:spcPct val="100000"/>
              </a:lnSpc>
              <a:spcAft>
                <a:spcPts val="1301"/>
              </a:spcAft>
              <a:buClr>
                <a:srgbClr val="000000"/>
              </a:buClr>
              <a:buFont typeface="Symbol" charset="2"/>
              <a:buChar char=""/>
            </a:pPr>
            <a:r>
              <a:rPr b="1" lang="en-US" sz="1450" spc="-1" strike="noStrike">
                <a:solidFill>
                  <a:srgbClr val="000000"/>
                </a:solidFill>
                <a:latin typeface="Arial"/>
                <a:ea typeface="Arial"/>
              </a:rPr>
              <a:t>Device knob: </a:t>
            </a:r>
            <a:r>
              <a:rPr b="0" lang="en-US" sz="1450" spc="-1" strike="noStrike">
                <a:solidFill>
                  <a:srgbClr val="000000"/>
                </a:solidFill>
                <a:latin typeface="Arial"/>
                <a:ea typeface="Arial"/>
              </a:rPr>
              <a:t>new ComputeDevice() in torch_utils; main.cpp parses --device cpu|cuda; ~39 hard-coded .cuda() → .to(ComputeDevice()) across 5 files</a:t>
            </a:r>
            <a:endParaRPr b="0" lang="en-US" sz="1450" spc="-1" strike="noStrike">
              <a:latin typeface="Arial"/>
            </a:endParaRPr>
          </a:p>
          <a:p>
            <a:pPr lvl="1" marL="406440" indent="-203040">
              <a:lnSpc>
                <a:spcPct val="100000"/>
              </a:lnSpc>
              <a:spcAft>
                <a:spcPts val="1301"/>
              </a:spcAft>
              <a:buClr>
                <a:srgbClr val="000000"/>
              </a:buClr>
              <a:buFont typeface="Symbol" charset="2"/>
              <a:buChar char=""/>
            </a:pPr>
            <a:r>
              <a:rPr b="1" lang="en-US" sz="1450" spc="-1" strike="noStrike">
                <a:solidFill>
                  <a:srgbClr val="000000"/>
                </a:solidFill>
                <a:latin typeface="Arial"/>
                <a:ea typeface="Arial"/>
              </a:rPr>
              <a:t>Two CUDA kernel CPU ports </a:t>
            </a:r>
            <a:r>
              <a:rPr b="0" lang="en-US" sz="1450" spc="-1" strike="noStrike">
                <a:solidFill>
                  <a:srgbClr val="000000"/>
                </a:solidFill>
                <a:latin typeface="Arial"/>
                <a:ea typeface="Arial"/>
              </a:rPr>
              <a:t>in geomlib (point_tet_mesh_test, generalized_projection) — reuse the identical per-element math (marked __host__ __device__), so CPU == CUDA by construction</a:t>
            </a:r>
            <a:endParaRPr b="0" lang="en-US" sz="1450" spc="-1" strike="noStrike">
              <a:latin typeface="Arial"/>
            </a:endParaRPr>
          </a:p>
          <a:p>
            <a:pPr marL="228600" indent="-228600">
              <a:lnSpc>
                <a:spcPct val="100000"/>
              </a:lnSpc>
              <a:spcAft>
                <a:spcPts val="1301"/>
              </a:spcAft>
              <a:buClr>
                <a:srgbClr val="000000"/>
              </a:buClr>
              <a:buFont typeface="Symbol" charset="2"/>
              <a:buChar char=""/>
            </a:pPr>
            <a:r>
              <a:rPr b="1" lang="en-US" sz="1450" spc="-1" strike="noStrike">
                <a:solidFill>
                  <a:srgbClr val="000000"/>
                </a:solidFill>
                <a:latin typeface="Arial"/>
                <a:ea typeface="Arial"/>
              </a:rPr>
              <a:t>Two independent axes:  (C) CUDA compute</a:t>
            </a:r>
            <a:r>
              <a:rPr b="0" lang="en-US" sz="1450" spc="-1" strike="noStrike">
                <a:solidFill>
                  <a:srgbClr val="000000"/>
                </a:solidFill>
                <a:latin typeface="Arial"/>
                <a:ea typeface="Arial"/>
              </a:rPr>
              <a:t> = this work;  </a:t>
            </a:r>
            <a:r>
              <a:rPr b="1" lang="en-US" sz="1450" spc="-1" strike="noStrike">
                <a:solidFill>
                  <a:srgbClr val="000000"/>
                </a:solidFill>
                <a:latin typeface="Arial"/>
                <a:ea typeface="Arial"/>
              </a:rPr>
              <a:t>(V) Vulkan view device</a:t>
            </a:r>
            <a:r>
              <a:rPr b="0" lang="en-US" sz="1450" spc="-1" strike="noStrike">
                <a:solidFill>
                  <a:srgbClr val="000000"/>
                </a:solidFill>
                <a:latin typeface="Arial"/>
                <a:ea typeface="Arial"/>
              </a:rPr>
              <a:t> = satisfied in software by lavapipe</a:t>
            </a:r>
            <a:endParaRPr b="0" lang="en-US" sz="1450" spc="-1" strike="noStrike">
              <a:latin typeface="Arial"/>
            </a:endParaRPr>
          </a:p>
        </p:txBody>
      </p:sp>
      <p:sp>
        <p:nvSpPr>
          <p:cNvPr id="117"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16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D — HOW EACH MODE WAS BUILT</a:t>
            </a:r>
            <a:endParaRPr b="0" lang="en-US" sz="1050" spc="-1" strike="noStrike">
              <a:latin typeface="Arial"/>
            </a:endParaRPr>
          </a:p>
        </p:txBody>
      </p:sp>
      <p:sp>
        <p:nvSpPr>
          <p:cNvPr id="119"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CPU-only mode — verified, timings &amp; how to run</a:t>
            </a:r>
            <a:endParaRPr b="0" lang="en-US" sz="2600" spc="-1" strike="noStrike">
              <a:latin typeface="Arial"/>
            </a:endParaRPr>
          </a:p>
        </p:txBody>
      </p:sp>
      <p:sp>
        <p:nvSpPr>
          <p:cNvPr id="120"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001"/>
              </a:spcAft>
              <a:buClr>
                <a:srgbClr val="000000"/>
              </a:buClr>
              <a:buFont typeface="Symbol" charset="2"/>
              <a:buChar char=""/>
            </a:pPr>
            <a:r>
              <a:rPr b="1" lang="en-US" sz="1500" spc="-1" strike="noStrike">
                <a:solidFill>
                  <a:srgbClr val="000000"/>
                </a:solidFill>
                <a:latin typeface="Arial"/>
                <a:ea typeface="Arial"/>
              </a:rPr>
              <a:t>No GPU at all</a:t>
            </a:r>
            <a:r>
              <a:rPr b="0" lang="en-US" sz="1500" spc="-1" strike="noStrike">
                <a:solidFill>
                  <a:srgbClr val="000000"/>
                </a:solidFill>
                <a:latin typeface="Arial"/>
                <a:ea typeface="Arial"/>
              </a:rPr>
              <a:t> (docker run without --gpus, lavapipe views): full chain → </a:t>
            </a:r>
            <a:r>
              <a:rPr b="1" lang="en-US" sz="1500" spc="-1" strike="noStrike">
                <a:solidFill>
                  <a:srgbClr val="000000"/>
                </a:solidFill>
                <a:latin typeface="Arial"/>
                <a:ea typeface="Arial"/>
              </a:rPr>
              <a:t>18,526 hexes, 0 inverted</a:t>
            </a:r>
            <a:r>
              <a:rPr b="0" lang="en-US" sz="1500" spc="-1" strike="noStrike">
                <a:solidFill>
                  <a:srgbClr val="000000"/>
                </a:solidFill>
                <a:latin typeface="Arial"/>
                <a:ea typeface="Arial"/>
              </a:rPr>
              <a:t> — identical to GPU</a:t>
            </a:r>
            <a:endParaRPr b="0" lang="en-US" sz="1500" spc="-1" strike="noStrike">
              <a:latin typeface="Arial"/>
            </a:endParaRPr>
          </a:p>
          <a:p>
            <a:pPr marL="228600" indent="-228600">
              <a:lnSpc>
                <a:spcPct val="100000"/>
              </a:lnSpc>
              <a:spcAft>
                <a:spcPts val="1001"/>
              </a:spcAft>
              <a:buClr>
                <a:srgbClr val="000000"/>
              </a:buClr>
              <a:buFont typeface="Symbol" charset="2"/>
              <a:buChar char=""/>
            </a:pPr>
            <a:r>
              <a:rPr b="1" lang="en-US" sz="1500" spc="-1" strike="noStrike">
                <a:solidFill>
                  <a:srgbClr val="000000"/>
                </a:solidFill>
                <a:latin typeface="Arial"/>
                <a:ea typeface="Arial"/>
              </a:rPr>
              <a:t>Correct, not fast</a:t>
            </a:r>
            <a:r>
              <a:rPr b="0" lang="en-US" sz="1500" spc="-1" strike="noStrike">
                <a:solidFill>
                  <a:srgbClr val="000000"/>
                </a:solidFill>
                <a:latin typeface="Arial"/>
                <a:ea typeface="Arial"/>
              </a:rPr>
              <a:t> (kernels are serial):</a:t>
            </a:r>
            <a:endParaRPr b="0" lang="en-US" sz="1500" spc="-1" strike="noStrike">
              <a:latin typeface="Arial"/>
            </a:endParaRPr>
          </a:p>
        </p:txBody>
      </p:sp>
      <p:graphicFrame>
        <p:nvGraphicFramePr>
          <p:cNvPr id="121" name="Table 0"/>
          <p:cNvGraphicFramePr/>
          <p:nvPr/>
        </p:nvGraphicFramePr>
        <p:xfrm>
          <a:off x="548640" y="2926080"/>
          <a:ext cx="11091240" cy="0"/>
        </p:xfrm>
        <a:graphic>
          <a:graphicData uri="http://schemas.openxmlformats.org/drawingml/2006/table">
            <a:tbl>
              <a:tblPr/>
              <a:tblGrid>
                <a:gridCol w="5605200"/>
                <a:gridCol w="3200400"/>
                <a:gridCol w="2286000"/>
              </a:tblGrid>
              <a:tr h="0">
                <a:tc>
                  <a:txBody>
                    <a:bodyPr lIns="63360" rIns="63360" tIns="37800" bIns="37800" anchor="ctr">
                      <a:noAutofit/>
                    </a:bodyPr>
                    <a:p>
                      <a:pPr>
                        <a:lnSpc>
                          <a:spcPct val="100000"/>
                        </a:lnSpc>
                        <a:buNone/>
                        <a:tabLst>
                          <a:tab algn="l" pos="0"/>
                        </a:tabLst>
                      </a:pPr>
                      <a:r>
                        <a:rPr b="1" lang="en-US" sz="1300" spc="-1" strike="noStrike">
                          <a:solidFill>
                            <a:srgbClr val="000000"/>
                          </a:solidFill>
                          <a:latin typeface="Arial"/>
                          <a:ea typeface="Arial"/>
                        </a:rPr>
                        <a:t>Stage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300" spc="-1" strike="noStrike">
                          <a:solidFill>
                            <a:srgbClr val="000000"/>
                          </a:solidFill>
                          <a:latin typeface="Arial"/>
                          <a:ea typeface="Arial"/>
                        </a:rPr>
                        <a:t>CPU time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1" lang="en-US" sz="1300" spc="-1" strike="noStrike">
                          <a:solidFill>
                            <a:srgbClr val="000000"/>
                          </a:solidFill>
                          <a:latin typeface="Arial"/>
                          <a:ea typeface="Arial"/>
                        </a:rPr>
                        <a:t>(GPU)</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0">
                <a:tc>
                  <a:txBody>
                    <a:bodyPr lIns="63360" rIns="63360" tIns="37800" bIns="37800" anchor="ctr">
                      <a:noAutofit/>
                    </a:bodyPr>
                    <a:p>
                      <a:pPr>
                        <a:lnSpc>
                          <a:spcPct val="100000"/>
                        </a:lnSpc>
                        <a:buNone/>
                        <a:tabLst>
                          <a:tab algn="l" pos="0"/>
                        </a:tabLst>
                      </a:pPr>
                      <a:r>
                        <a:rPr b="0" lang="en-US" sz="1300" spc="-1" strike="noStrike">
                          <a:solidFill>
                            <a:srgbClr val="000000"/>
                          </a:solidFill>
                          <a:latin typeface="Arial"/>
                          <a:ea typeface="Arial"/>
                        </a:rPr>
                        <a:t>deform / decompose / discretize / hexahedralize</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5s / 76s / &lt;1s / 269s</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lIns="63360" rIns="63360" tIns="37800" bIns="37800" anchor="ctr">
                      <a:noAutofit/>
                    </a:bodyPr>
                    <a:p>
                      <a:pPr algn="ctr">
                        <a:lnSpc>
                          <a:spcPct val="100000"/>
                        </a:lnSpc>
                        <a:buNone/>
                        <a:tabLst>
                          <a:tab algn="l" pos="0"/>
                        </a:tabLst>
                      </a:pPr>
                      <a:r>
                        <a:rPr b="0" lang="en-US" sz="1300" spc="-1" strike="noStrike">
                          <a:solidFill>
                            <a:srgbClr val="000000"/>
                          </a:solidFill>
                          <a:latin typeface="Arial"/>
                          <a:ea typeface="Arial"/>
                        </a:rPr>
                        <a:t>~12s total</a:t>
                      </a:r>
                      <a:endParaRPr b="0" lang="en-US" sz="1300" spc="-1" strike="noStrike">
                        <a:latin typeface="Arial"/>
                      </a:endParaRPr>
                    </a:p>
                  </a:txBody>
                  <a:tcPr anchor="ctr" marL="63360" marR="6336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bl>
          </a:graphicData>
        </a:graphic>
      </p:graphicFrame>
      <p:sp>
        <p:nvSpPr>
          <p:cNvPr id="122" name="Text 3"/>
          <p:cNvSpPr/>
          <p:nvPr/>
        </p:nvSpPr>
        <p:spPr>
          <a:xfrm>
            <a:off x="713160" y="4160520"/>
            <a:ext cx="10762200" cy="63972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./cli_run/run.sh &lt;stage&gt; &lt;input&gt; --headless --device cpu</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 or:  hex --headless --device cpu --script &lt;cfg&gt;</a:t>
            </a:r>
            <a:endParaRPr b="0" lang="en-US" sz="1200" spc="-1" strike="noStrike">
              <a:latin typeface="Arial"/>
            </a:endParaRPr>
          </a:p>
        </p:txBody>
      </p:sp>
      <p:sp>
        <p:nvSpPr>
          <p:cNvPr id="123"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17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D — HOW EACH MODE WAS BUILT</a:t>
            </a:r>
            <a:endParaRPr b="0" lang="en-US" sz="1050" spc="-1" strike="noStrike">
              <a:latin typeface="Arial"/>
            </a:endParaRPr>
          </a:p>
        </p:txBody>
      </p:sp>
      <p:sp>
        <p:nvSpPr>
          <p:cNvPr id="125"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Native (non-Docker) build — how &amp; status</a:t>
            </a:r>
            <a:endParaRPr b="0" lang="en-US" sz="2600" spc="-1" strike="noStrike">
              <a:latin typeface="Arial"/>
            </a:endParaRPr>
          </a:p>
        </p:txBody>
      </p:sp>
      <p:sp>
        <p:nvSpPr>
          <p:cNvPr id="126" name="Text 2"/>
          <p:cNvSpPr/>
          <p:nvPr/>
        </p:nvSpPr>
        <p:spPr>
          <a:xfrm>
            <a:off x="548640" y="150876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799"/>
              </a:spcAft>
              <a:buClr>
                <a:srgbClr val="000000"/>
              </a:buClr>
              <a:buFont typeface="Symbol" charset="2"/>
              <a:buChar char=""/>
            </a:pPr>
            <a:r>
              <a:rPr b="0" lang="en-US" sz="1450" spc="-1" strike="noStrike">
                <a:solidFill>
                  <a:srgbClr val="000000"/>
                </a:solidFill>
                <a:latin typeface="Arial"/>
                <a:ea typeface="Arial"/>
              </a:rPr>
              <a:t>The container is only a build </a:t>
            </a:r>
            <a:r>
              <a:rPr b="0" i="1" lang="en-US" sz="1450" spc="-1" strike="noStrike">
                <a:solidFill>
                  <a:srgbClr val="000000"/>
                </a:solidFill>
                <a:latin typeface="Arial"/>
                <a:ea typeface="Arial"/>
              </a:rPr>
              <a:t>environment</a:t>
            </a:r>
            <a:r>
              <a:rPr b="0" lang="en-US" sz="1450" spc="-1" strike="noStrike">
                <a:solidFill>
                  <a:srgbClr val="000000"/>
                </a:solidFill>
                <a:latin typeface="Arial"/>
                <a:ea typeface="Arial"/>
              </a:rPr>
              <a:t>; nothing in the pipeline requires Docker</a:t>
            </a:r>
            <a:endParaRPr b="0" lang="en-US" sz="1450" spc="-1" strike="noStrike">
              <a:latin typeface="Arial"/>
            </a:endParaRPr>
          </a:p>
          <a:p>
            <a:pPr marL="228600" indent="-228600">
              <a:lnSpc>
                <a:spcPct val="100000"/>
              </a:lnSpc>
              <a:spcAft>
                <a:spcPts val="799"/>
              </a:spcAft>
              <a:buClr>
                <a:srgbClr val="000000"/>
              </a:buClr>
              <a:buFont typeface="Symbol" charset="2"/>
              <a:buChar char=""/>
            </a:pPr>
            <a:r>
              <a:rPr b="1" lang="en-US" sz="1450" spc="-1" strike="noStrike">
                <a:solidFill>
                  <a:srgbClr val="000000"/>
                </a:solidFill>
                <a:latin typeface="Arial"/>
                <a:ea typeface="Arial"/>
              </a:rPr>
              <a:t>Compile-verified on a clean Ubuntu 22.04</a:t>
            </a:r>
            <a:r>
              <a:rPr b="0" lang="en-US" sz="1450" spc="-1" strike="noStrike">
                <a:solidFill>
                  <a:srgbClr val="000000"/>
                </a:solidFill>
                <a:latin typeface="Arial"/>
                <a:ea typeface="Arial"/>
              </a:rPr>
              <a:t> (evocube + hex both build)</a:t>
            </a:r>
            <a:endParaRPr b="0" lang="en-US" sz="1450" spc="-1" strike="noStrike">
              <a:latin typeface="Arial"/>
            </a:endParaRPr>
          </a:p>
          <a:p>
            <a:pPr marL="228600" indent="-228600">
              <a:lnSpc>
                <a:spcPct val="100000"/>
              </a:lnSpc>
              <a:spcAft>
                <a:spcPts val="799"/>
              </a:spcAft>
              <a:buClr>
                <a:srgbClr val="000000"/>
              </a:buClr>
              <a:buFont typeface="Symbol" charset="2"/>
              <a:buChar char=""/>
            </a:pPr>
            <a:r>
              <a:rPr b="0" lang="en-US" sz="1450" spc="-1" strike="noStrike">
                <a:solidFill>
                  <a:srgbClr val="000000"/>
                </a:solidFill>
                <a:latin typeface="Arial"/>
                <a:ea typeface="Arial"/>
              </a:rPr>
              <a:t>Key step people forget: install the </a:t>
            </a:r>
            <a:r>
              <a:rPr b="1" lang="en-US" sz="1450" spc="-1" strike="noStrike">
                <a:solidFill>
                  <a:srgbClr val="000000"/>
                </a:solidFill>
                <a:latin typeface="Arial"/>
                <a:ea typeface="Arial"/>
              </a:rPr>
              <a:t>CUDA toolkit</a:t>
            </a:r>
            <a:r>
              <a:rPr b="0" lang="en-US" sz="1450" spc="-1" strike="noStrike">
                <a:solidFill>
                  <a:srgbClr val="000000"/>
                </a:solidFill>
                <a:latin typeface="Arial"/>
                <a:ea typeface="Arial"/>
              </a:rPr>
              <a:t> (the compiler nvcc, not the driver)</a:t>
            </a:r>
            <a:endParaRPr b="0" lang="en-US" sz="1450" spc="-1" strike="noStrike">
              <a:latin typeface="Arial"/>
            </a:endParaRPr>
          </a:p>
        </p:txBody>
      </p:sp>
      <p:sp>
        <p:nvSpPr>
          <p:cNvPr id="127" name="Text 3"/>
          <p:cNvSpPr/>
          <p:nvPr/>
        </p:nvSpPr>
        <p:spPr>
          <a:xfrm>
            <a:off x="713160" y="3337560"/>
            <a:ext cx="10762200" cy="182844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100" spc="-1" strike="noStrike">
                <a:solidFill>
                  <a:srgbClr val="000000"/>
                </a:solidFill>
                <a:latin typeface="Courier New"/>
                <a:ea typeface="Courier New"/>
              </a:rPr>
              <a:t>sudo apt install -y git cmake build-essential libblas-dev liblapack-dev \</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  </a:t>
            </a:r>
            <a:r>
              <a:rPr b="0" lang="en-US" sz="1100" spc="-1" strike="noStrike">
                <a:solidFill>
                  <a:srgbClr val="000000"/>
                </a:solidFill>
                <a:latin typeface="Courier New"/>
                <a:ea typeface="Courier New"/>
              </a:rPr>
              <a:t>libgl1-mesa-dev libx{randr,inerama,cursor,i}-dev libhdf5-serial-dev vulkan-tools</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sudo apt install -y cuda-toolkit-12-4        # nvcc only — NO driver</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export Torch_DIR=$PWD/lib/libtorch/share/cmake/Torch/</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source lib/vulkan-sdk-1.3.268.0/setup-env.sh</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cmake -S evocube -B evocube/build &amp;&amp; cmake --build evocube/build -j8</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cmake -S interactive-hex-meshing -B .../build/Release -DTorch_DIR="$Torch_DIR"</a:t>
            </a:r>
            <a:endParaRPr b="0" lang="en-US" sz="1100" spc="-1" strike="noStrike">
              <a:latin typeface="Arial"/>
            </a:endParaRPr>
          </a:p>
          <a:p>
            <a:pPr>
              <a:lnSpc>
                <a:spcPct val="110000"/>
              </a:lnSpc>
              <a:buNone/>
              <a:tabLst>
                <a:tab algn="l" pos="0"/>
              </a:tabLst>
            </a:pPr>
            <a:r>
              <a:rPr b="0" lang="en-US" sz="1100" spc="-1" strike="noStrike">
                <a:solidFill>
                  <a:srgbClr val="000000"/>
                </a:solidFill>
                <a:latin typeface="Courier New"/>
                <a:ea typeface="Courier New"/>
              </a:rPr>
              <a:t>cmake --build interactive-hex-meshing/build/Release -j8</a:t>
            </a:r>
            <a:endParaRPr b="0" lang="en-US" sz="1100" spc="-1" strike="noStrike">
              <a:latin typeface="Arial"/>
            </a:endParaRPr>
          </a:p>
        </p:txBody>
      </p:sp>
      <p:sp>
        <p:nvSpPr>
          <p:cNvPr id="128"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18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E — CHANGE TRACKING &amp; DEPENDENCY MAP</a:t>
            </a:r>
            <a:endParaRPr b="0" lang="en-US" sz="1050" spc="-1" strike="noStrike">
              <a:latin typeface="Arial"/>
            </a:endParaRPr>
          </a:p>
        </p:txBody>
      </p:sp>
      <p:sp>
        <p:nvSpPr>
          <p:cNvPr id="130"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Did we change the original CDM source? (items #8–9)</a:t>
            </a:r>
            <a:endParaRPr b="0" lang="en-US" sz="2600" spc="-1" strike="noStrike">
              <a:latin typeface="Arial"/>
            </a:endParaRPr>
          </a:p>
        </p:txBody>
      </p:sp>
      <p:sp>
        <p:nvSpPr>
          <p:cNvPr id="131" name="Text 2"/>
          <p:cNvSpPr/>
          <p:nvPr/>
        </p:nvSpPr>
        <p:spPr>
          <a:xfrm>
            <a:off x="548640" y="155448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799"/>
              </a:spcAft>
              <a:buClr>
                <a:srgbClr val="000000"/>
              </a:buClr>
              <a:buFont typeface="Symbol" charset="2"/>
              <a:buChar char=""/>
            </a:pPr>
            <a:r>
              <a:rPr b="1" lang="en-US" sz="1350" spc="-1" strike="noStrike">
                <a:solidFill>
                  <a:srgbClr val="000000"/>
                </a:solidFill>
                <a:latin typeface="Arial"/>
                <a:ea typeface="Arial"/>
              </a:rPr>
              <a:t>Yes — but small, additive, no algorithm changed.</a:t>
            </a:r>
            <a:r>
              <a:rPr b="0" lang="en-US" sz="1350" spc="-1" strike="noStrike">
                <a:solidFill>
                  <a:srgbClr val="000000"/>
                </a:solidFill>
                <a:latin typeface="Arial"/>
                <a:ea typeface="Arial"/>
              </a:rPr>
              <a:t>  vs baseline d0a904a: </a:t>
            </a:r>
            <a:r>
              <a:rPr b="1" lang="en-US" sz="1350" spc="-1" strike="noStrike">
                <a:solidFill>
                  <a:srgbClr val="000000"/>
                </a:solidFill>
                <a:latin typeface="Arial"/>
                <a:ea typeface="Arial"/>
              </a:rPr>
              <a:t>+967 / −121 across 32 files</a:t>
            </a:r>
            <a:endParaRPr b="0" lang="en-US" sz="1350" spc="-1" strike="noStrike">
              <a:latin typeface="Arial"/>
            </a:endParaRPr>
          </a:p>
          <a:p>
            <a:pPr marL="228600" indent="-228600">
              <a:lnSpc>
                <a:spcPct val="100000"/>
              </a:lnSpc>
              <a:spcAft>
                <a:spcPts val="799"/>
              </a:spcAft>
              <a:buClr>
                <a:srgbClr val="000000"/>
              </a:buClr>
              <a:buFont typeface="Symbol" charset="2"/>
              <a:buChar char=""/>
            </a:pPr>
            <a:r>
              <a:rPr b="1" lang="en-US" sz="1350" spc="-1" strike="noStrike">
                <a:solidFill>
                  <a:srgbClr val="000000"/>
                </a:solidFill>
                <a:latin typeface="Arial"/>
                <a:ea typeface="Arial"/>
              </a:rPr>
              <a:t>Three additive buckets:</a:t>
            </a:r>
            <a:endParaRPr b="0" lang="en-US" sz="1350" spc="-1" strike="noStrike">
              <a:latin typeface="Arial"/>
            </a:endParaRPr>
          </a:p>
          <a:p>
            <a:pPr lvl="1" marL="406440" indent="-203040">
              <a:lnSpc>
                <a:spcPct val="100000"/>
              </a:lnSpc>
              <a:spcAft>
                <a:spcPts val="799"/>
              </a:spcAft>
              <a:buClr>
                <a:srgbClr val="000000"/>
              </a:buClr>
              <a:buFont typeface="Symbol" charset="2"/>
              <a:buChar char=""/>
            </a:pPr>
            <a:r>
              <a:rPr b="0" lang="en-US" sz="1350" spc="-1" strike="noStrike">
                <a:solidFill>
                  <a:srgbClr val="000000"/>
                </a:solidFill>
                <a:latin typeface="Arial"/>
                <a:ea typeface="Arial"/>
              </a:rPr>
              <a:t>New CLI logic isolated in hex/src/cli/ (script runner + metrics) + thin RunFromScript() shims that drive the same code the GUI buttons do</a:t>
            </a:r>
            <a:endParaRPr b="0" lang="en-US" sz="1350" spc="-1" strike="noStrike">
              <a:latin typeface="Arial"/>
            </a:endParaRPr>
          </a:p>
          <a:p>
            <a:pPr lvl="1" marL="406440" indent="-203040">
              <a:lnSpc>
                <a:spcPct val="100000"/>
              </a:lnSpc>
              <a:spcAft>
                <a:spcPts val="799"/>
              </a:spcAft>
              <a:buClr>
                <a:srgbClr val="000000"/>
              </a:buClr>
              <a:buFont typeface="Symbol" charset="2"/>
              <a:buChar char=""/>
            </a:pPr>
            <a:r>
              <a:rPr b="0" lang="en-US" sz="1350" spc="-1" strike="noStrike">
                <a:solidFill>
                  <a:srgbClr val="000000"/>
                </a:solidFill>
                <a:latin typeface="Arial"/>
                <a:ea typeface="Arial"/>
              </a:rPr>
              <a:t>Surfaceless-Vulkan if (!headless) startup guards</a:t>
            </a:r>
            <a:endParaRPr b="0" lang="en-US" sz="1350" spc="-1" strike="noStrike">
              <a:latin typeface="Arial"/>
            </a:endParaRPr>
          </a:p>
          <a:p>
            <a:pPr lvl="1" marL="406440" indent="-203040">
              <a:lnSpc>
                <a:spcPct val="100000"/>
              </a:lnSpc>
              <a:spcAft>
                <a:spcPts val="799"/>
              </a:spcAft>
              <a:buClr>
                <a:srgbClr val="000000"/>
              </a:buClr>
              <a:buFont typeface="Symbol" charset="2"/>
              <a:buChar char=""/>
            </a:pPr>
            <a:r>
              <a:rPr b="0" lang="en-US" sz="1350" spc="-1" strike="noStrike">
                <a:solidFill>
                  <a:srgbClr val="000000"/>
                </a:solidFill>
                <a:latin typeface="Arial"/>
                <a:ea typeface="Arial"/>
              </a:rPr>
              <a:t>CPU device knob + CPU branches in the two .cu kernels</a:t>
            </a:r>
            <a:endParaRPr b="0" lang="en-US" sz="1350" spc="-1" strike="noStrike">
              <a:latin typeface="Arial"/>
            </a:endParaRPr>
          </a:p>
          <a:p>
            <a:pPr marL="228600" indent="-228600">
              <a:lnSpc>
                <a:spcPct val="100000"/>
              </a:lnSpc>
              <a:spcAft>
                <a:spcPts val="799"/>
              </a:spcAft>
              <a:buClr>
                <a:srgbClr val="000000"/>
              </a:buClr>
              <a:buFont typeface="Symbol" charset="2"/>
              <a:buChar char=""/>
            </a:pPr>
            <a:r>
              <a:rPr b="0" lang="en-US" sz="1350" spc="-1" strike="noStrike">
                <a:solidFill>
                  <a:srgbClr val="000000"/>
                </a:solidFill>
                <a:latin typeface="Arial"/>
                <a:ea typeface="Arial"/>
              </a:rPr>
              <a:t>Parent repo (cli_hexmeshing) = </a:t>
            </a:r>
            <a:r>
              <a:rPr b="1" lang="en-US" sz="1350" spc="-1" strike="noStrike">
                <a:solidFill>
                  <a:srgbClr val="000000"/>
                </a:solidFill>
                <a:latin typeface="Arial"/>
                <a:ea typeface="Arial"/>
              </a:rPr>
              <a:t>pure addition</a:t>
            </a:r>
            <a:r>
              <a:rPr b="0" lang="en-US" sz="1350" spc="-1" strike="noStrike">
                <a:solidFill>
                  <a:srgbClr val="000000"/>
                </a:solidFill>
                <a:latin typeface="Arial"/>
                <a:ea typeface="Arial"/>
              </a:rPr>
              <a:t> (the whole cli_run/ folder)</a:t>
            </a:r>
            <a:endParaRPr b="0" lang="en-US" sz="1350" spc="-1" strike="noStrike">
              <a:latin typeface="Arial"/>
            </a:endParaRPr>
          </a:p>
          <a:p>
            <a:pPr marL="228600" indent="-228600">
              <a:lnSpc>
                <a:spcPct val="100000"/>
              </a:lnSpc>
              <a:spcAft>
                <a:spcPts val="799"/>
              </a:spcAft>
              <a:buClr>
                <a:srgbClr val="000000"/>
              </a:buClr>
              <a:buFont typeface="Symbol" charset="2"/>
              <a:buChar char=""/>
            </a:pPr>
            <a:r>
              <a:rPr b="0" lang="en-US" sz="1350" spc="-1" strike="noStrike">
                <a:solidFill>
                  <a:srgbClr val="000000"/>
                </a:solidFill>
                <a:latin typeface="Arial"/>
                <a:ea typeface="Arial"/>
              </a:rPr>
              <a:t>Everything under Git on branch cli-runner; regenerate diff:  </a:t>
            </a:r>
            <a:r>
              <a:rPr b="0" lang="en-US" sz="1350" spc="-1" strike="noStrike">
                <a:solidFill>
                  <a:srgbClr val="000000"/>
                </a:solidFill>
                <a:latin typeface="Courier New"/>
                <a:ea typeface="Courier New"/>
              </a:rPr>
              <a:t>git -C interactive-hex-meshing diff --stat d0a904a</a:t>
            </a:r>
            <a:endParaRPr b="0" lang="en-US" sz="1350" spc="-1" strike="noStrike">
              <a:latin typeface="Arial"/>
            </a:endParaRPr>
          </a:p>
        </p:txBody>
      </p:sp>
      <p:sp>
        <p:nvSpPr>
          <p:cNvPr id="132"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19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E — CHANGE TRACKING &amp; DEPENDENCY MAP</a:t>
            </a:r>
            <a:endParaRPr b="0" lang="en-US" sz="1050" spc="-1" strike="noStrike">
              <a:latin typeface="Arial"/>
            </a:endParaRPr>
          </a:p>
        </p:txBody>
      </p:sp>
      <p:sp>
        <p:nvSpPr>
          <p:cNvPr id="134"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Dependency map: two questions, kept separate (item #12)</a:t>
            </a:r>
            <a:endParaRPr b="0" lang="en-US" sz="2600" spc="-1" strike="noStrike">
              <a:latin typeface="Arial"/>
            </a:endParaRPr>
          </a:p>
        </p:txBody>
      </p:sp>
      <p:sp>
        <p:nvSpPr>
          <p:cNvPr id="135" name="Text 2"/>
          <p:cNvSpPr/>
          <p:nvPr/>
        </p:nvSpPr>
        <p:spPr>
          <a:xfrm>
            <a:off x="548640" y="160020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(V) Vulkan + X11</a:t>
            </a:r>
            <a:r>
              <a:rPr b="0" lang="en-US" sz="1600" spc="-1" strike="noStrike">
                <a:solidFill>
                  <a:srgbClr val="000000"/>
                </a:solidFill>
                <a:latin typeface="Arial"/>
                <a:ea typeface="Arial"/>
              </a:rPr>
              <a:t>  →  only the GUI renderer. Remove it = </a:t>
            </a:r>
            <a:r>
              <a:rPr b="1" lang="en-US" sz="1600" spc="-1" strike="noStrike">
                <a:solidFill>
                  <a:srgbClr val="000000"/>
                </a:solidFill>
                <a:latin typeface="Arial"/>
                <a:ea typeface="Arial"/>
              </a:rPr>
              <a:t>headless</a:t>
            </a:r>
            <a:r>
              <a:rPr b="0" lang="en-US" sz="1600" spc="-1" strike="noStrike">
                <a:solidFill>
                  <a:srgbClr val="000000"/>
                </a:solidFill>
                <a:latin typeface="Arial"/>
                <a:ea typeface="Arial"/>
              </a:rPr>
              <a:t> (display-only for every stage)</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(C) CUDA</a:t>
            </a:r>
            <a:r>
              <a:rPr b="0" lang="en-US" sz="1600" spc="-1" strike="noStrike">
                <a:solidFill>
                  <a:srgbClr val="000000"/>
                </a:solidFill>
                <a:latin typeface="Arial"/>
                <a:ea typeface="Arial"/>
              </a:rPr>
              <a:t>  →  the actual math (libtorch + 2 geomlib .cu kernels). Remove it = </a:t>
            </a:r>
            <a:r>
              <a:rPr b="1" lang="en-US" sz="1600" spc="-1" strike="noStrike">
                <a:solidFill>
                  <a:srgbClr val="000000"/>
                </a:solidFill>
                <a:latin typeface="Arial"/>
                <a:ea typeface="Arial"/>
              </a:rPr>
              <a:t>CPU-only</a:t>
            </a:r>
            <a:r>
              <a:rPr b="0" lang="en-US" sz="1600" spc="-1" strike="noStrike">
                <a:solidFill>
                  <a:srgbClr val="000000"/>
                </a:solidFill>
                <a:latin typeface="Arial"/>
                <a:ea typeface="Arial"/>
              </a:rPr>
              <a:t>, splits per stage</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0" lang="en-US" sz="1600" spc="-1" strike="noStrike">
                <a:solidFill>
                  <a:srgbClr val="000000"/>
                </a:solidFill>
                <a:latin typeface="Arial"/>
                <a:ea typeface="Arial"/>
              </a:rPr>
              <a:t>These are </a:t>
            </a:r>
            <a:r>
              <a:rPr b="0" i="1" lang="en-US" sz="1600" spc="-1" strike="noStrike">
                <a:solidFill>
                  <a:srgbClr val="000000"/>
                </a:solidFill>
                <a:latin typeface="Arial"/>
                <a:ea typeface="Arial"/>
              </a:rPr>
              <a:t>orthogonal</a:t>
            </a:r>
            <a:r>
              <a:rPr b="0" lang="en-US" sz="1600" spc="-1" strike="noStrike">
                <a:solidFill>
                  <a:srgbClr val="000000"/>
                </a:solidFill>
                <a:latin typeface="Arial"/>
                <a:ea typeface="Arial"/>
              </a:rPr>
              <a:t>: a stage can be headless-ready but still CUDA-bound</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Evidence: </a:t>
            </a:r>
            <a:r>
              <a:rPr b="0" lang="en-US" sz="1600" spc="-1" strike="noStrike">
                <a:solidFill>
                  <a:srgbClr val="000000"/>
                </a:solidFill>
                <a:latin typeface="Arial"/>
                <a:ea typeface="Arial"/>
              </a:rPr>
              <a:t>static source trace + per-stage nvidia-smi (Slide 12)</a:t>
            </a:r>
            <a:endParaRPr b="0" lang="en-US" sz="1600" spc="-1" strike="noStrike">
              <a:latin typeface="Arial"/>
            </a:endParaRPr>
          </a:p>
        </p:txBody>
      </p:sp>
      <p:sp>
        <p:nvSpPr>
          <p:cNvPr id="136"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20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F — WRAP-UP</a:t>
            </a:r>
            <a:endParaRPr b="0" lang="en-US" sz="1050" spc="-1" strike="noStrike">
              <a:latin typeface="Arial"/>
            </a:endParaRPr>
          </a:p>
        </p:txBody>
      </p:sp>
      <p:sp>
        <p:nvSpPr>
          <p:cNvPr id="138"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Known gaps / what's left</a:t>
            </a:r>
            <a:endParaRPr b="0" lang="en-US" sz="2600" spc="-1" strike="noStrike">
              <a:latin typeface="Arial"/>
            </a:endParaRPr>
          </a:p>
        </p:txBody>
      </p:sp>
      <p:sp>
        <p:nvSpPr>
          <p:cNvPr id="139" name="Text 2"/>
          <p:cNvSpPr/>
          <p:nvPr/>
        </p:nvSpPr>
        <p:spPr>
          <a:xfrm>
            <a:off x="548640" y="160020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Git push: </a:t>
            </a:r>
            <a:r>
              <a:rPr b="0" lang="en-US" sz="1600" spc="-1" strike="noStrike">
                <a:solidFill>
                  <a:srgbClr val="000000"/>
                </a:solidFill>
                <a:latin typeface="Arial"/>
                <a:ea typeface="Arial"/>
              </a:rPr>
              <a:t>all Weeks 1–3 committed locally on cli-runner, not pushed yet — by choice, one batch at week's end (the bare-binary Release upload goes with it)</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CPU performance: </a:t>
            </a:r>
            <a:r>
              <a:rPr b="0" lang="en-US" sz="1600" spc="-1" strike="noStrike">
                <a:solidFill>
                  <a:srgbClr val="000000"/>
                </a:solidFill>
                <a:latin typeface="Arial"/>
                <a:ea typeface="Arial"/>
              </a:rPr>
              <a:t>correct today; serial kernels → ~6 min vs ~12 s GPU; at::parallel_for is the easy follow-on</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Slim image GUI: </a:t>
            </a:r>
            <a:r>
              <a:rPr b="0" lang="en-US" sz="1600" spc="-1" strike="noStrike">
                <a:solidFill>
                  <a:srgbClr val="000000"/>
                </a:solidFill>
                <a:latin typeface="Arial"/>
                <a:ea typeface="Arial"/>
              </a:rPr>
              <a:t>slim base is headless-only; on-screen GUI needs the devel image</a:t>
            </a:r>
            <a:endParaRPr b="0" lang="en-US" sz="1600" spc="-1" strike="noStrike">
              <a:latin typeface="Arial"/>
            </a:endParaRPr>
          </a:p>
          <a:p>
            <a:pPr marL="228600" indent="-228600">
              <a:lnSpc>
                <a:spcPct val="100000"/>
              </a:lnSpc>
              <a:spcAft>
                <a:spcPts val="1599"/>
              </a:spcAft>
              <a:buClr>
                <a:srgbClr val="000000"/>
              </a:buClr>
              <a:buFont typeface="Symbol" charset="2"/>
              <a:buChar char=""/>
            </a:pPr>
            <a:r>
              <a:rPr b="1" lang="en-US" sz="1600" spc="-1" strike="noStrike">
                <a:solidFill>
                  <a:srgbClr val="000000"/>
                </a:solidFill>
                <a:latin typeface="Arial"/>
                <a:ea typeface="Arial"/>
              </a:rPr>
              <a:t>No remaining GPU-host blockers</a:t>
            </a:r>
            <a:r>
              <a:rPr b="0" lang="en-US" sz="1600" spc="-1" strike="noStrike">
                <a:solidFill>
                  <a:srgbClr val="000000"/>
                </a:solidFill>
                <a:latin typeface="Arial"/>
                <a:ea typeface="Arial"/>
              </a:rPr>
              <a:t> — every "pending a GPU host" item is now measured on the RTX 4090</a:t>
            </a:r>
            <a:endParaRPr b="0" lang="en-US" sz="1600" spc="-1" strike="noStrike">
              <a:latin typeface="Arial"/>
            </a:endParaRPr>
          </a:p>
        </p:txBody>
      </p:sp>
      <p:sp>
        <p:nvSpPr>
          <p:cNvPr id="140" name="Text 3"/>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21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SECTION F — WRAP-UP</a:t>
            </a:r>
            <a:endParaRPr b="0" lang="en-US" sz="1050" spc="-1" strike="noStrike">
              <a:latin typeface="Arial"/>
            </a:endParaRPr>
          </a:p>
        </p:txBody>
      </p:sp>
      <p:sp>
        <p:nvSpPr>
          <p:cNvPr id="142"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Bottom line + where the detail lives</a:t>
            </a:r>
            <a:endParaRPr b="0" lang="en-US" sz="2600" spc="-1" strike="noStrike">
              <a:latin typeface="Arial"/>
            </a:endParaRPr>
          </a:p>
        </p:txBody>
      </p:sp>
      <p:sp>
        <p:nvSpPr>
          <p:cNvPr id="143" name="Text 2"/>
          <p:cNvSpPr/>
          <p:nvPr/>
        </p:nvSpPr>
        <p:spPr>
          <a:xfrm>
            <a:off x="548640" y="160020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400"/>
              </a:spcAft>
              <a:buClr>
                <a:srgbClr val="000000"/>
              </a:buClr>
              <a:buFont typeface="Symbol" charset="2"/>
              <a:buChar char=""/>
            </a:pPr>
            <a:r>
              <a:rPr b="0" lang="en-US" sz="1600" spc="-1" strike="noStrike">
                <a:solidFill>
                  <a:srgbClr val="000000"/>
                </a:solidFill>
                <a:latin typeface="Arial"/>
                <a:ea typeface="Arial"/>
              </a:rPr>
              <a:t>A reviewer can:  </a:t>
            </a:r>
            <a:r>
              <a:rPr b="1" lang="en-US" sz="1600" spc="-1" strike="noStrike">
                <a:solidFill>
                  <a:srgbClr val="000000"/>
                </a:solidFill>
                <a:latin typeface="Arial"/>
                <a:ea typeface="Arial"/>
              </a:rPr>
              <a:t>build</a:t>
            </a:r>
            <a:r>
              <a:rPr b="0" lang="en-US" sz="1600" spc="-1" strike="noStrike">
                <a:solidFill>
                  <a:srgbClr val="000000"/>
                </a:solidFill>
                <a:latin typeface="Arial"/>
                <a:ea typeface="Arial"/>
              </a:rPr>
              <a:t> (Docker or native) → </a:t>
            </a:r>
            <a:r>
              <a:rPr b="1" lang="en-US" sz="1600" spc="-1" strike="noStrike">
                <a:solidFill>
                  <a:srgbClr val="000000"/>
                </a:solidFill>
                <a:latin typeface="Arial"/>
                <a:ea typeface="Arial"/>
              </a:rPr>
              <a:t>run</a:t>
            </a:r>
            <a:r>
              <a:rPr b="0" lang="en-US" sz="1600" spc="-1" strike="noStrike">
                <a:solidFill>
                  <a:srgbClr val="000000"/>
                </a:solidFill>
                <a:latin typeface="Arial"/>
                <a:ea typeface="Arial"/>
              </a:rPr>
              <a:t> any stage or the full chain (GUI / headless / CPU) → </a:t>
            </a:r>
            <a:r>
              <a:rPr b="1" lang="en-US" sz="1600" spc="-1" strike="noStrike">
                <a:solidFill>
                  <a:srgbClr val="000000"/>
                </a:solidFill>
                <a:latin typeface="Arial"/>
                <a:ea typeface="Arial"/>
              </a:rPr>
              <a:t>verify</a:t>
            </a:r>
            <a:r>
              <a:rPr b="0" lang="en-US" sz="1600" spc="-1" strike="noStrike">
                <a:solidFill>
                  <a:srgbClr val="000000"/>
                </a:solidFill>
                <a:latin typeface="Arial"/>
                <a:ea typeface="Arial"/>
              </a:rPr>
              <a:t> with one smoke command → </a:t>
            </a:r>
            <a:r>
              <a:rPr b="1" lang="en-US" sz="1600" spc="-1" strike="noStrike">
                <a:solidFill>
                  <a:srgbClr val="000000"/>
                </a:solidFill>
                <a:latin typeface="Arial"/>
                <a:ea typeface="Arial"/>
              </a:rPr>
              <a:t>see exactly</a:t>
            </a:r>
            <a:r>
              <a:rPr b="0" lang="en-US" sz="1600" spc="-1" strike="noStrike">
                <a:solidFill>
                  <a:srgbClr val="000000"/>
                </a:solidFill>
                <a:latin typeface="Arial"/>
                <a:ea typeface="Arial"/>
              </a:rPr>
              <a:t> what changed in the source → </a:t>
            </a:r>
            <a:r>
              <a:rPr b="1" lang="en-US" sz="1600" spc="-1" strike="noStrike">
                <a:solidFill>
                  <a:srgbClr val="000000"/>
                </a:solidFill>
                <a:latin typeface="Arial"/>
                <a:ea typeface="Arial"/>
              </a:rPr>
              <a:t>know precisely</a:t>
            </a:r>
            <a:r>
              <a:rPr b="0" lang="en-US" sz="1600" spc="-1" strike="noStrike">
                <a:solidFill>
                  <a:srgbClr val="000000"/>
                </a:solidFill>
                <a:latin typeface="Arial"/>
                <a:ea typeface="Arial"/>
              </a:rPr>
              <a:t> which steps need the GPU</a:t>
            </a:r>
            <a:endParaRPr b="0" lang="en-US" sz="1600" spc="-1" strike="noStrike">
              <a:latin typeface="Arial"/>
            </a:endParaRPr>
          </a:p>
          <a:p>
            <a:pPr marL="228600" indent="-228600">
              <a:lnSpc>
                <a:spcPct val="100000"/>
              </a:lnSpc>
              <a:spcAft>
                <a:spcPts val="1400"/>
              </a:spcAft>
              <a:buClr>
                <a:srgbClr val="000000"/>
              </a:buClr>
              <a:buFont typeface="Symbol" charset="2"/>
              <a:buChar char=""/>
            </a:pPr>
            <a:r>
              <a:rPr b="1" lang="en-US" sz="1600" spc="-1" strike="noStrike">
                <a:solidFill>
                  <a:srgbClr val="000000"/>
                </a:solidFill>
                <a:latin typeface="Arial"/>
                <a:ea typeface="Arial"/>
              </a:rPr>
              <a:t>All validated on real hardware (RTX 4090)</a:t>
            </a:r>
            <a:endParaRPr b="0" lang="en-US" sz="1600" spc="-1" strike="noStrike">
              <a:latin typeface="Arial"/>
            </a:endParaRPr>
          </a:p>
        </p:txBody>
      </p:sp>
      <p:sp>
        <p:nvSpPr>
          <p:cNvPr id="144" name="Text 3"/>
          <p:cNvSpPr/>
          <p:nvPr/>
        </p:nvSpPr>
        <p:spPr>
          <a:xfrm>
            <a:off x="548640" y="3520440"/>
            <a:ext cx="11091240" cy="3196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500" spc="-1" strike="noStrike">
                <a:solidFill>
                  <a:srgbClr val="000000"/>
                </a:solidFill>
                <a:latin typeface="Arial"/>
                <a:ea typeface="Arial"/>
              </a:rPr>
              <a:t>Doc map:</a:t>
            </a:r>
            <a:endParaRPr b="0" lang="en-US" sz="1500" spc="-1" strike="noStrike">
              <a:latin typeface="Arial"/>
            </a:endParaRPr>
          </a:p>
        </p:txBody>
      </p:sp>
      <p:sp>
        <p:nvSpPr>
          <p:cNvPr id="145" name="Text 4"/>
          <p:cNvSpPr/>
          <p:nvPr/>
        </p:nvSpPr>
        <p:spPr>
          <a:xfrm>
            <a:off x="713160" y="3886200"/>
            <a:ext cx="10762200" cy="63972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BUILD.md · USAGE_AND_TESTS.md · HEADLESS.md · CPU_ONLY.md</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DEPENDENCY_MAP.md · SOURCE_CHANGES.md · REPORT_LATEST.md</a:t>
            </a:r>
            <a:endParaRPr b="0" lang="en-US" sz="1200" spc="-1" strike="noStrike">
              <a:latin typeface="Arial"/>
            </a:endParaRPr>
          </a:p>
        </p:txBody>
      </p:sp>
      <p:sp>
        <p:nvSpPr>
          <p:cNvPr id="146" name="Text 5"/>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22 / 22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APPENDIX — BACKUP DETAIL</a:t>
            </a:r>
            <a:endParaRPr b="0" lang="en-US" sz="1050" spc="-1" strike="noStrike">
              <a:latin typeface="Arial"/>
            </a:endParaRPr>
          </a:p>
        </p:txBody>
      </p:sp>
      <p:sp>
        <p:nvSpPr>
          <p:cNvPr id="148"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Full run: the one-command GPU test</a:t>
            </a:r>
            <a:endParaRPr b="0" lang="en-US" sz="2600" spc="-1" strike="noStrike">
              <a:latin typeface="Arial"/>
            </a:endParaRPr>
          </a:p>
        </p:txBody>
      </p:sp>
      <p:sp>
        <p:nvSpPr>
          <p:cNvPr id="149" name="Text 2"/>
          <p:cNvSpPr/>
          <p:nvPr/>
        </p:nvSpPr>
        <p:spPr>
          <a:xfrm>
            <a:off x="713160" y="1554480"/>
            <a:ext cx="10762200" cy="123408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docker run --runtime=nvidia --gpus all --rm \</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  </a:t>
            </a:r>
            <a:r>
              <a:rPr b="0" lang="en-US" sz="1200" spc="-1" strike="noStrike">
                <a:solidFill>
                  <a:srgbClr val="000000"/>
                </a:solidFill>
                <a:latin typeface="Courier New"/>
                <a:ea typeface="Courier New"/>
              </a:rPr>
              <a:t>-e DISPLAY=$DISPLAY -e NVIDIA_DRIVER_CAPABILITIES=all -e HEX_LOCAL=1 \</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  </a:t>
            </a:r>
            <a:r>
              <a:rPr b="0" lang="en-US" sz="1200" spc="-1" strike="noStrike">
                <a:solidFill>
                  <a:srgbClr val="000000"/>
                </a:solidFill>
                <a:latin typeface="Courier New"/>
                <a:ea typeface="Courier New"/>
              </a:rPr>
              <a:t>-v /tmp/.X11-unix:/tmp/.X11-unix:rw -v "$(pwd)/output:/space/output" \</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  </a:t>
            </a:r>
            <a:r>
              <a:rPr b="0" lang="en-US" sz="1200" spc="-1" strike="noStrike">
                <a:solidFill>
                  <a:srgbClr val="000000"/>
                </a:solidFill>
                <a:latin typeface="Courier New"/>
                <a:ea typeface="Courier New"/>
              </a:rPr>
              <a:t>hexmesh-cli:latest ./cli_run/smoke_test.sh</a:t>
            </a:r>
            <a:endParaRPr b="0" lang="en-US" sz="1200" spc="-1" strike="noStrike">
              <a:latin typeface="Arial"/>
            </a:endParaRPr>
          </a:p>
        </p:txBody>
      </p:sp>
      <p:sp>
        <p:nvSpPr>
          <p:cNvPr id="150" name="Text 3"/>
          <p:cNvSpPr/>
          <p:nvPr/>
        </p:nvSpPr>
        <p:spPr>
          <a:xfrm>
            <a:off x="548640" y="306324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400"/>
              </a:spcAft>
              <a:buClr>
                <a:srgbClr val="000000"/>
              </a:buClr>
              <a:buFont typeface="Symbol" charset="2"/>
              <a:buChar char=""/>
            </a:pPr>
            <a:r>
              <a:rPr b="0" lang="en-US" sz="1600" spc="-1" strike="noStrike">
                <a:solidFill>
                  <a:srgbClr val="000000"/>
                </a:solidFill>
                <a:latin typeface="Arial"/>
                <a:ea typeface="Arial"/>
              </a:rPr>
              <a:t>Two flags that matter:  </a:t>
            </a:r>
            <a:r>
              <a:rPr b="0" lang="en-US" sz="1600" spc="-1" strike="noStrike">
                <a:solidFill>
                  <a:srgbClr val="000000"/>
                </a:solidFill>
                <a:latin typeface="Courier New"/>
                <a:ea typeface="Courier New"/>
              </a:rPr>
              <a:t>NVIDIA_DRIVER_CAPABILITIES=all</a:t>
            </a:r>
            <a:r>
              <a:rPr b="0" lang="en-US" sz="1600" spc="-1" strike="noStrike">
                <a:solidFill>
                  <a:srgbClr val="000000"/>
                </a:solidFill>
                <a:latin typeface="Arial"/>
                <a:ea typeface="Arial"/>
              </a:rPr>
              <a:t> (lets the GPU driver into the container) and </a:t>
            </a:r>
            <a:r>
              <a:rPr b="0" lang="en-US" sz="1600" spc="-1" strike="noStrike">
                <a:solidFill>
                  <a:srgbClr val="000000"/>
                </a:solidFill>
                <a:latin typeface="Courier New"/>
                <a:ea typeface="Courier New"/>
              </a:rPr>
              <a:t>HEX_LOCAL=1</a:t>
            </a:r>
            <a:r>
              <a:rPr b="0" lang="en-US" sz="1600" spc="-1" strike="noStrike">
                <a:solidFill>
                  <a:srgbClr val="000000"/>
                </a:solidFill>
                <a:latin typeface="Arial"/>
                <a:ea typeface="Arial"/>
              </a:rPr>
              <a:t> (run hex directly inside the image)</a:t>
            </a:r>
            <a:endParaRPr b="0" lang="en-US" sz="1600" spc="-1" strike="noStrike">
              <a:latin typeface="Arial"/>
            </a:endParaRPr>
          </a:p>
          <a:p>
            <a:pPr marL="228600" indent="-228600">
              <a:lnSpc>
                <a:spcPct val="100000"/>
              </a:lnSpc>
              <a:spcAft>
                <a:spcPts val="1400"/>
              </a:spcAft>
              <a:buClr>
                <a:srgbClr val="000000"/>
              </a:buClr>
              <a:buFont typeface="Symbol" charset="2"/>
              <a:buChar char=""/>
            </a:pPr>
            <a:r>
              <a:rPr b="0" lang="en-US" sz="1600" spc="-1" strike="noStrike">
                <a:solidFill>
                  <a:srgbClr val="000000"/>
                </a:solidFill>
                <a:latin typeface="Arial"/>
                <a:ea typeface="Arial"/>
              </a:rPr>
              <a:t>Do </a:t>
            </a:r>
            <a:r>
              <a:rPr b="1" lang="en-US" sz="1600" spc="-1" strike="noStrike">
                <a:solidFill>
                  <a:srgbClr val="000000"/>
                </a:solidFill>
                <a:latin typeface="Arial"/>
                <a:ea typeface="Arial"/>
              </a:rPr>
              <a:t>not</a:t>
            </a:r>
            <a:r>
              <a:rPr b="0" lang="en-US" sz="1600" spc="-1" strike="noStrike">
                <a:solidFill>
                  <a:srgbClr val="000000"/>
                </a:solidFill>
                <a:latin typeface="Arial"/>
                <a:ea typeface="Arial"/>
              </a:rPr>
              <a:t> also mount /usr/share/vulkan — it pulls host-only files and the run fails</a:t>
            </a:r>
            <a:endParaRPr b="0" lang="en-US" sz="1600" spc="-1" strike="noStrike">
              <a:latin typeface="Arial"/>
            </a:endParaRPr>
          </a:p>
        </p:txBody>
      </p:sp>
      <p:sp>
        <p:nvSpPr>
          <p:cNvPr id="151"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Appendix · A1</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Text 0"/>
          <p:cNvSpPr/>
          <p:nvPr/>
        </p:nvSpPr>
        <p:spPr>
          <a:xfrm>
            <a:off x="548640" y="365760"/>
            <a:ext cx="11091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48" strike="noStrike">
                <a:solidFill>
                  <a:srgbClr val="000000"/>
                </a:solidFill>
                <a:latin typeface="Arial"/>
                <a:ea typeface="Arial"/>
              </a:rPr>
              <a:t>APPENDIX — BACKUP DETAIL</a:t>
            </a:r>
            <a:endParaRPr b="0" lang="en-US" sz="1050" spc="-1" strike="noStrike">
              <a:latin typeface="Arial"/>
            </a:endParaRPr>
          </a:p>
        </p:txBody>
      </p:sp>
      <p:sp>
        <p:nvSpPr>
          <p:cNvPr id="153" name="Text 1"/>
          <p:cNvSpPr/>
          <p:nvPr/>
        </p:nvSpPr>
        <p:spPr>
          <a:xfrm>
            <a:off x="548640" y="658440"/>
            <a:ext cx="11091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600" spc="-1" strike="noStrike">
                <a:solidFill>
                  <a:srgbClr val="000000"/>
                </a:solidFill>
                <a:latin typeface="Arial"/>
                <a:ea typeface="Arial"/>
              </a:rPr>
              <a:t>The 4-stage chain, by hand</a:t>
            </a:r>
            <a:endParaRPr b="0" lang="en-US" sz="2600" spc="-1" strike="noStrike">
              <a:latin typeface="Arial"/>
            </a:endParaRPr>
          </a:p>
        </p:txBody>
      </p:sp>
      <p:sp>
        <p:nvSpPr>
          <p:cNvPr id="154" name="Text 2"/>
          <p:cNvSpPr/>
          <p:nvPr/>
        </p:nvSpPr>
        <p:spPr>
          <a:xfrm>
            <a:off x="713160" y="1554480"/>
            <a:ext cx="10762200" cy="1234080"/>
          </a:xfrm>
          <a:prstGeom prst="rect">
            <a:avLst/>
          </a:prstGeom>
          <a:noFill/>
          <a:ln w="0">
            <a:noFill/>
          </a:ln>
        </p:spPr>
        <p:style>
          <a:lnRef idx="0"/>
          <a:fillRef idx="0"/>
          <a:effectRef idx="0"/>
          <a:fontRef idx="minor"/>
        </p:style>
        <p:txBody>
          <a:bodyPr lIns="0" rIns="0" tIns="0" bIns="0" anchor="t">
            <a:noAutofit/>
          </a:bodyPr>
          <a:p>
            <a:pPr>
              <a:lnSpc>
                <a:spcPct val="110000"/>
              </a:lnSpc>
              <a:buNone/>
              <a:tabLst>
                <a:tab algn="l" pos="0"/>
              </a:tabLst>
            </a:pPr>
            <a:r>
              <a:rPr b="0" lang="en-US" sz="1200" spc="-1" strike="noStrike">
                <a:solidFill>
                  <a:srgbClr val="000000"/>
                </a:solidFill>
                <a:latin typeface="Courier New"/>
                <a:ea typeface="Courier New"/>
              </a:rPr>
              <a:t>./cli_run/run.sh deform        &lt;input.mesh|.hdf5&gt;  --headless   # Stage 0</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./cli_run/run.sh decompose     &lt;stage_0.hdf5&gt;      --headless   # Stage 1</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./cli_run/run.sh discretize    &lt;stage_1.hdf5&gt;      --headless   # Stage 2</a:t>
            </a:r>
            <a:endParaRPr b="0" lang="en-US" sz="1200" spc="-1" strike="noStrike">
              <a:latin typeface="Arial"/>
            </a:endParaRPr>
          </a:p>
          <a:p>
            <a:pPr>
              <a:lnSpc>
                <a:spcPct val="110000"/>
              </a:lnSpc>
              <a:buNone/>
              <a:tabLst>
                <a:tab algn="l" pos="0"/>
              </a:tabLst>
            </a:pPr>
            <a:r>
              <a:rPr b="0" lang="en-US" sz="1200" spc="-1" strike="noStrike">
                <a:solidFill>
                  <a:srgbClr val="000000"/>
                </a:solidFill>
                <a:latin typeface="Courier New"/>
                <a:ea typeface="Courier New"/>
              </a:rPr>
              <a:t>./cli_run/run.sh hexahedralize &lt;stage_2.hdf5&gt;      --headless   # Stage 3</a:t>
            </a:r>
            <a:endParaRPr b="0" lang="en-US" sz="1200" spc="-1" strike="noStrike">
              <a:latin typeface="Arial"/>
            </a:endParaRPr>
          </a:p>
        </p:txBody>
      </p:sp>
      <p:sp>
        <p:nvSpPr>
          <p:cNvPr id="155" name="Text 3"/>
          <p:cNvSpPr/>
          <p:nvPr/>
        </p:nvSpPr>
        <p:spPr>
          <a:xfrm>
            <a:off x="548640" y="3063240"/>
            <a:ext cx="11091240" cy="360"/>
          </a:xfrm>
          <a:prstGeom prst="rect">
            <a:avLst/>
          </a:prstGeom>
          <a:noFill/>
          <a:ln w="0">
            <a:noFill/>
          </a:ln>
        </p:spPr>
        <p:style>
          <a:lnRef idx="0"/>
          <a:fillRef idx="0"/>
          <a:effectRef idx="0"/>
          <a:fontRef idx="minor"/>
        </p:style>
        <p:txBody>
          <a:bodyPr lIns="0" rIns="0" tIns="0" bIns="0" anchor="t">
            <a:noAutofit/>
          </a:bodyPr>
          <a:p>
            <a:pPr marL="228600" indent="-228600">
              <a:lnSpc>
                <a:spcPct val="100000"/>
              </a:lnSpc>
              <a:spcAft>
                <a:spcPts val="1400"/>
              </a:spcAft>
              <a:buClr>
                <a:srgbClr val="000000"/>
              </a:buClr>
              <a:buFont typeface="Symbol" charset="2"/>
              <a:buChar char=""/>
            </a:pPr>
            <a:r>
              <a:rPr b="0" lang="en-US" sz="1600" spc="-1" strike="noStrike">
                <a:solidFill>
                  <a:srgbClr val="000000"/>
                </a:solidFill>
                <a:latin typeface="Arial"/>
                <a:ea typeface="Arial"/>
              </a:rPr>
              <a:t>Each stage writes </a:t>
            </a:r>
            <a:r>
              <a:rPr b="0" lang="en-US" sz="1600" spc="-1" strike="noStrike">
                <a:solidFill>
                  <a:srgbClr val="000000"/>
                </a:solidFill>
                <a:latin typeface="Courier New"/>
                <a:ea typeface="Courier New"/>
              </a:rPr>
              <a:t>output/runs/&lt;example&gt;/…</a:t>
            </a:r>
            <a:r>
              <a:rPr b="0" lang="en-US" sz="1600" spc="-1" strike="noStrike">
                <a:solidFill>
                  <a:srgbClr val="000000"/>
                </a:solidFill>
                <a:latin typeface="Arial"/>
                <a:ea typeface="Arial"/>
              </a:rPr>
              <a:t>; final stage → </a:t>
            </a:r>
            <a:r>
              <a:rPr b="0" lang="en-US" sz="1600" spc="-1" strike="noStrike">
                <a:solidFill>
                  <a:srgbClr val="000000"/>
                </a:solidFill>
                <a:latin typeface="Courier New"/>
                <a:ea typeface="Courier New"/>
              </a:rPr>
              <a:t>result.mesh</a:t>
            </a:r>
            <a:r>
              <a:rPr b="0" lang="en-US" sz="1600" spc="-1" strike="noStrike">
                <a:solidFill>
                  <a:srgbClr val="000000"/>
                </a:solidFill>
                <a:latin typeface="Arial"/>
                <a:ea typeface="Arial"/>
              </a:rPr>
              <a:t> + </a:t>
            </a:r>
            <a:r>
              <a:rPr b="0" lang="en-US" sz="1600" spc="-1" strike="noStrike">
                <a:solidFill>
                  <a:srgbClr val="000000"/>
                </a:solidFill>
                <a:latin typeface="Courier New"/>
                <a:ea typeface="Courier New"/>
              </a:rPr>
              <a:t>result_metrics.yaml</a:t>
            </a:r>
            <a:endParaRPr b="0" lang="en-US" sz="1600" spc="-1" strike="noStrike">
              <a:latin typeface="Arial"/>
            </a:endParaRPr>
          </a:p>
          <a:p>
            <a:pPr marL="228600" indent="-228600">
              <a:lnSpc>
                <a:spcPct val="100000"/>
              </a:lnSpc>
              <a:spcAft>
                <a:spcPts val="1400"/>
              </a:spcAft>
              <a:buClr>
                <a:srgbClr val="000000"/>
              </a:buClr>
              <a:buFont typeface="Symbol" charset="2"/>
              <a:buChar char=""/>
            </a:pPr>
            <a:r>
              <a:rPr b="0" lang="en-US" sz="1600" spc="-1" strike="noStrike">
                <a:solidFill>
                  <a:srgbClr val="000000"/>
                </a:solidFill>
                <a:latin typeface="Arial"/>
                <a:ea typeface="Arial"/>
              </a:rPr>
              <a:t>Parameters live in per-stage YAML under </a:t>
            </a:r>
            <a:r>
              <a:rPr b="0" lang="en-US" sz="1600" spc="-1" strike="noStrike">
                <a:solidFill>
                  <a:srgbClr val="000000"/>
                </a:solidFill>
                <a:latin typeface="Courier New"/>
                <a:ea typeface="Courier New"/>
              </a:rPr>
              <a:t>cli_run/configs/</a:t>
            </a:r>
            <a:r>
              <a:rPr b="0" lang="en-US" sz="1600" spc="-1" strike="noStrike">
                <a:solidFill>
                  <a:srgbClr val="000000"/>
                </a:solidFill>
                <a:latin typeface="Arial"/>
                <a:ea typeface="Arial"/>
              </a:rPr>
              <a:t>  (copy + edit to tune)</a:t>
            </a:r>
            <a:endParaRPr b="0" lang="en-US" sz="1600" spc="-1" strike="noStrike">
              <a:latin typeface="Arial"/>
            </a:endParaRPr>
          </a:p>
        </p:txBody>
      </p:sp>
      <p:sp>
        <p:nvSpPr>
          <p:cNvPr id="156" name="Text 4"/>
          <p:cNvSpPr/>
          <p:nvPr/>
        </p:nvSpPr>
        <p:spPr>
          <a:xfrm>
            <a:off x="9811440" y="6446520"/>
            <a:ext cx="1828440" cy="27396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000000"/>
                </a:solidFill>
                <a:latin typeface="Arial"/>
                <a:ea typeface="Arial"/>
              </a:rPr>
              <a:t>Appendix · A2</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2026-06-22T15:25:11Z</dcterms:created>
  <dc:creator>Davran</dc:creator>
  <dc:description/>
  <dc:language>en-US</dc:language>
  <cp:lastModifiedBy/>
  <dcterms:modified xsi:type="dcterms:W3CDTF">2026-06-22T10:46:30Z</dcterms:modified>
  <cp:revision>3</cp:revision>
  <dc:subject>PptxGenJS Presentation</dc:subject>
  <dc:title>Command-line CDM hex-meshing tool — progress update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On-screen Show (16:9)</vt:lpwstr>
  </property>
  <property fmtid="{D5CDD505-2E9C-101B-9397-08002B2CF9AE}" pid="4" name="Slides">
    <vt:i4>24</vt:i4>
  </property>
</Properties>
</file>